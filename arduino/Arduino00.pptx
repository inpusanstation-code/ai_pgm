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altLang="ko-KR" lang="ko-KR"/>
    </a:defPPr>
    <a:lvl1pPr algn="l" defTabSz="914400" eaLnBrk="1" hangingPunct="1" latinLnBrk="1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autoAdjust="0" sz="15987"/>
    <p:restoredTop sz="94660"/>
  </p:normalViewPr>
  <p:slideViewPr>
    <p:cSldViewPr snapToGrid="0">
      <p:cViewPr>
        <p:scale>
          <a:sx d="100" n="100"/>
          <a:sy d="100" n="100"/>
        </p:scale>
        <p:origin x="216" y="31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<Relationships xmlns="http://schemas.openxmlformats.org/package/2006/relationships"><Relationship Id="rId21" Target="slides/slide15.xml" Type="http://schemas.openxmlformats.org/officeDocument/2006/relationships/slide"/><Relationship Id="rId19" Target="slides/slide13.xml" Type="http://schemas.openxmlformats.org/officeDocument/2006/relationships/slide"/><Relationship Id="rId20" Target="slides/slide14.xml" Type="http://schemas.openxmlformats.org/officeDocument/2006/relationships/slide"/><Relationship Id="rId18" Target="slides/slide12.xml" Type="http://schemas.openxmlformats.org/officeDocument/2006/relationships/slide"/><Relationship Id="rId17" Target="slides/slide11.xml" Type="http://schemas.openxmlformats.org/officeDocument/2006/relationships/slide"/><Relationship Id="rId16" Target="slides/slide10.xml" Type="http://schemas.openxmlformats.org/officeDocument/2006/relationships/slide"/><Relationship Id="rId15" Target="slides/slide9.xml" Type="http://schemas.openxmlformats.org/officeDocument/2006/relationships/slide"/><Relationship Id="rId14" Target="slides/slide8.xml" Type="http://schemas.openxmlformats.org/officeDocument/2006/relationships/slide"/><Relationship Id="rId13" Target="slides/slide7.xml" Type="http://schemas.openxmlformats.org/officeDocument/2006/relationships/slide"/><Relationship Id="rId12" Target="slides/slide6.xml" Type="http://schemas.openxmlformats.org/officeDocument/2006/relationships/slide"/><Relationship Id="rId11" Target="slides/slide5.xml" Type="http://schemas.openxmlformats.org/officeDocument/2006/relationships/slide"/><Relationship Id="rId10" Target="slides/slide4.xml" Type="http://schemas.openxmlformats.org/officeDocument/2006/relationships/slide"/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22" Target="slides/slide16.xml" Type="http://schemas.openxmlformats.org/officeDocument/2006/relationships/slide"/><Relationship Id="rId1" Target="theme/theme2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1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95D3B7ED-61F7-0542-AE7B-9795C4EFD070}" type="datetimeFigureOut">
              <a:rPr lang="en-US" smtClean="0"/>
              <a:t>28/07/15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9C5789CE-836E-B042-843F-5605E41F5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31753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4572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2" Target="../slides/slide2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 numCol="1"/>
          <a:lstStyle/>
          <a:p>
            <a:fld id="{9C5789CE-836E-B042-843F-5605E41F50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83960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 numCol="1"/>
          <a:lstStyle>
            <a:lvl1pPr algn="ctr">
              <a:defRPr sz="60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부제목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 numCol="1"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ko-KR" smtClean="0"/>
              <a:t>클릭하여 마스터 부제목 스타일 편집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56260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91590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 numCol="1"/>
          <a:lstStyle>
            <a:lvl1pPr>
              <a:defRPr sz="60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 numCol="1"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5227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내용 개체 틀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5" name="날짜 개체 틀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2747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5" name="텍스트 개체 틀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7" name="날짜 개체 틀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8" name="바닥글 개체 틀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33658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날짜 개체 틀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4" name="바닥글 개체 틀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1630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3" name="바닥글 개체 틀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38612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21065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그림 개체 틀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502613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세로 텍스트 개체 틀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8595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numCol="1" vert="eaVert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세로 텍스트 개체 틀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numCol="1" vert="eaVert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41551686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2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F7AD7-663E-4745-91D1-F7105B171636}" type="datetimeFigureOut">
              <a:rPr lang="ko-KR" smtClean="0"/>
              <a:t>2025-06-23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866374781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l" defTabSz="914400" eaLnBrk="1" hangingPunct="1" latinLnBrk="1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altLang="ko-KR"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3" Target="../media/image1.png" Type="http://schemas.openxmlformats.org/officeDocument/2006/relationships/image"/><Relationship Id="rId2" Target="https://www.arduino.cc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4" Target="../media/image2.jpeg" Type="http://schemas.openxmlformats.org/officeDocument/2006/relationships/image"/><Relationship Id="rId3" Target="https://ko.wikipedia.org/wiki/%EC%95%84%EB%91%90%EC%9D%B4%EB%85%B8" TargetMode="External" Type="http://schemas.openxmlformats.org/officeDocument/2006/relationships/hyperlink"/><Relationship Id="rId2" Target="../notesSlides/notesSlide1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6" Target="../media/image4.png" Type="http://schemas.openxmlformats.org/officeDocument/2006/relationships/image"/><Relationship Id="rId5" Target="https://m.blog.naver.com/qazws78941/221418114087" TargetMode="External" Type="http://schemas.openxmlformats.org/officeDocument/2006/relationships/hyperlink"/><Relationship Id="rId4" Target="../media/hdphoto1.wdp" Type="http://schemas.microsoft.com/office/2007/relationships/hdphoto"/><Relationship Id="rId3" Target="../media/image3.png" Type="http://schemas.openxmlformats.org/officeDocument/2006/relationships/image"/><Relationship Id="rId2" Target="http://www.iamamaker.kr/ko/tutorials/%EC%95%84%EB%91%90%EC%9D%B4%EB%85%B8%EB%9E%80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5" Target="../media/image6.png" Type="http://schemas.openxmlformats.org/officeDocument/2006/relationships/image"/><Relationship Id="rId4" Target="https://m.blog.naver.com/chgy2131/222108323734" TargetMode="External" Type="http://schemas.openxmlformats.org/officeDocument/2006/relationships/hyperlink"/><Relationship Id="rId3" Target="../media/image5.png" Type="http://schemas.openxmlformats.org/officeDocument/2006/relationships/image"/><Relationship Id="rId2" Target="https://ko.wikipedia.org/wiki/%EB%B0%9C%EA%B4%91_%EB%8B%A4%EC%9D%B4%EC%98%A4%EB%93%9C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3" Target="https://docs.arduino.cc/language-reference/en/functions/time/delay/" TargetMode="External" Type="http://schemas.openxmlformats.org/officeDocument/2006/relationships/hyperlink"/><Relationship Id="rId12" Target="https://docs.arduino.cc/language-reference/en/functions/digital-io/digitalwrite/" TargetMode="External" Type="http://schemas.openxmlformats.org/officeDocument/2006/relationships/hyperlink"/><Relationship Id="rId11" Target="https://wikidocs.net/159412" TargetMode="External" Type="http://schemas.openxmlformats.org/officeDocument/2006/relationships/hyperlink"/><Relationship Id="rId10" Target="https://m.blog.naver.com/jihko/221978101066" TargetMode="External" Type="http://schemas.openxmlformats.org/officeDocument/2006/relationships/hyperlink"/><Relationship Id="rId9" Target="http://www.iamamaker.kr/ko/tutorials/%EC%95%84%EB%91%90%EC%9D%B4%EB%85%B8-%EB%A0%88%ED%8D%BC%EB%9F%B0%EC%8A%A4-pinmode-%ED%95%A8%EC%88%98/" TargetMode="External" Type="http://schemas.openxmlformats.org/officeDocument/2006/relationships/hyperlink"/><Relationship Id="rId8" Target="https://docs.arduino.cc/language-reference/en/functions/digital-io/digitalwrite/" TargetMode="External" Type="http://schemas.openxmlformats.org/officeDocument/2006/relationships/hyperlink"/><Relationship Id="rId7" Target="https://docs.arduino.cc/language-reference/en/functions/digital-io/pinMode/" TargetMode="External" Type="http://schemas.openxmlformats.org/officeDocument/2006/relationships/hyperlink"/><Relationship Id="rId6" Target="../media/image8.png" Type="http://schemas.openxmlformats.org/officeDocument/2006/relationships/image"/><Relationship Id="rId5" Target="https://blog.naver.com/wjoh0315/222357307879" TargetMode="External" Type="http://schemas.openxmlformats.org/officeDocument/2006/relationships/hyperlink"/><Relationship Id="rId4" Target="https://blog.naver.com/lline_edu/222216345306" TargetMode="External" Type="http://schemas.openxmlformats.org/officeDocument/2006/relationships/hyperlink"/><Relationship Id="rId3" Target="../media/hdphoto2.wdp" Type="http://schemas.microsoft.com/office/2007/relationships/hdphoto"/><Relationship Id="rId2" Target="../media/image7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8" Target="../media/image12.png" Type="http://schemas.openxmlformats.org/officeDocument/2006/relationships/image"/><Relationship Id="rId7" Target="../media/image11.png" Type="http://schemas.openxmlformats.org/officeDocument/2006/relationships/image"/><Relationship Id="rId6" Target="../media/image10.png" Type="http://schemas.openxmlformats.org/officeDocument/2006/relationships/image"/><Relationship Id="rId5" Target="https://blog.naver.com/dokkosam/221154956357" TargetMode="External" Type="http://schemas.openxmlformats.org/officeDocument/2006/relationships/hyperlink"/><Relationship Id="rId4" Target="../media/image9.png" Type="http://schemas.openxmlformats.org/officeDocument/2006/relationships/image"/><Relationship Id="rId3" Target="https://docs.arduino.cc/language-reference/en/structure/sketch/loop/" TargetMode="External" Type="http://schemas.openxmlformats.org/officeDocument/2006/relationships/hyperlink"/><Relationship Id="rId2" Target="https://docs.arduino.cc/language-reference/en/structure/sketch/setu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8" Target="https://docs.arduino.cc/language-reference/en/functions/communication/serial/read/" TargetMode="External" Type="http://schemas.openxmlformats.org/officeDocument/2006/relationships/hyperlink"/><Relationship Id="rId7" Target="https://docs.arduino.cc/language-reference/en/functions/communication/serial/begin/" TargetMode="External" Type="http://schemas.openxmlformats.org/officeDocument/2006/relationships/hyperlink"/><Relationship Id="rId6" Target="https://docs.arduino.cc/language-reference/en/functions/communication/serial/" TargetMode="External" Type="http://schemas.openxmlformats.org/officeDocument/2006/relationships/hyperlink"/><Relationship Id="rId5" Target="https://m.blog.naver.com/kids_power/222121826276" TargetMode="External" Type="http://schemas.openxmlformats.org/officeDocument/2006/relationships/hyperlink"/><Relationship Id="rId4" Target="https://wikidocs.net/30780" TargetMode="External" Type="http://schemas.openxmlformats.org/officeDocument/2006/relationships/hyperlink"/><Relationship Id="rId3" Target="../media/hdphoto2.wdp" Type="http://schemas.microsoft.com/office/2007/relationships/hdphoto"/><Relationship Id="rId2" Target="../media/image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4" Target="../media/image14.jpeg" Type="http://schemas.openxmlformats.org/officeDocument/2006/relationships/image"/><Relationship Id="rId3" Target="../media/hdphoto3.wdp" Type="http://schemas.microsoft.com/office/2007/relationships/hdphoto"/><Relationship Id="rId2" Target="../media/image13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4" Target="../media/image16.jpeg" Type="http://schemas.openxmlformats.org/officeDocument/2006/relationships/image"/><Relationship Id="rId3" Target="../media/hdphoto4.wdp" Type="http://schemas.microsoft.com/office/2007/relationships/hdphoto"/><Relationship Id="rId2" Target="../media/image1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5" Target="https://wikidocs.net/30758" TargetMode="External" Type="http://schemas.openxmlformats.org/officeDocument/2006/relationships/hyperlink"/><Relationship Id="rId4" Target="../media/image16.jpeg" Type="http://schemas.openxmlformats.org/officeDocument/2006/relationships/image"/><Relationship Id="rId3" Target="../media/hdphoto5.wdp" Type="http://schemas.microsoft.com/office/2007/relationships/hdphoto"/><Relationship Id="rId2" Target="../media/image1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4" Target="../media/image16.jpeg" Type="http://schemas.openxmlformats.org/officeDocument/2006/relationships/image"/><Relationship Id="rId3" Target="../media/hdphoto5.wdp" Type="http://schemas.microsoft.com/office/2007/relationships/hdphoto"/><Relationship Id="rId2" Target="../media/image1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3" Target="../media/hdphoto6.wdp" Type="http://schemas.microsoft.com/office/2007/relationships/hdphoto"/><Relationship Id="rId2" Target="../media/image1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4" Target="https://wikidocs.net/30788" TargetMode="External" Type="http://schemas.openxmlformats.org/officeDocument/2006/relationships/hyperlink"/><Relationship Id="rId3" Target="../media/hdphoto7.wdp" Type="http://schemas.microsoft.com/office/2007/relationships/hdphoto"/><Relationship Id="rId2" Target="../media/image1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3" Target="../media/hdphoto8.wdp" Type="http://schemas.microsoft.com/office/2007/relationships/hdphoto"/><Relationship Id="rId2" Target="../media/image20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6" Target="https://docs.arduino.cc/language-reference/en/functions/analog-io/analogWrite/" TargetMode="External" Type="http://schemas.openxmlformats.org/officeDocument/2006/relationships/hyperlink"/><Relationship Id="rId5" Target="https://docs.arduino.cc/language-reference/en/functions/analog-io/analogRead/" TargetMode="External" Type="http://schemas.openxmlformats.org/officeDocument/2006/relationships/hyperlink"/><Relationship Id="rId4" Target="../media/image22.png" Type="http://schemas.openxmlformats.org/officeDocument/2006/relationships/image"/><Relationship Id="rId3" Target="https://docs.arduino.cc/language-reference/en/functions/communication/serial/println/" TargetMode="External" Type="http://schemas.openxmlformats.org/officeDocument/2006/relationships/hyperlink"/><Relationship Id="rId2" Target="../media/image2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12" Target="http://www.kocw.net/home/search/kemView.do?kemId=1308543" TargetMode="External" Type="http://schemas.openxmlformats.org/officeDocument/2006/relationships/hyperlink"/><Relationship Id="rId11" Target="http://www.kocw.net/home/search/kemView.do?kemId=1308543" TargetMode="External" Type="http://schemas.openxmlformats.org/officeDocument/2006/relationships/hyperlink"/><Relationship Id="rId10" Target="http://www.kocw.net/home/search/kemView.do?kemId=1346592" TargetMode="External" Type="http://schemas.openxmlformats.org/officeDocument/2006/relationships/hyperlink"/><Relationship Id="rId9" Target="http://www.kocw.net/home/search/kemView.do?kemId=1346592" TargetMode="External" Type="http://schemas.openxmlformats.org/officeDocument/2006/relationships/hyperlink"/><Relationship Id="rId8" Target="https://techweb.rohm.co.kr/" TargetMode="External" Type="http://schemas.openxmlformats.org/officeDocument/2006/relationships/hyperlink"/><Relationship Id="rId7" Target="https://techweb.rohm.co.kr/" TargetMode="External" Type="http://schemas.openxmlformats.org/officeDocument/2006/relationships/hyperlink"/><Relationship Id="rId6" Target="https://projecthub.arduino.cc/" TargetMode="External" Type="http://schemas.openxmlformats.org/officeDocument/2006/relationships/hyperlink"/><Relationship Id="rId5" Target="https://projecthub.arduino.cc/" TargetMode="External" Type="http://schemas.openxmlformats.org/officeDocument/2006/relationships/hyperlink"/><Relationship Id="rId4" Target="https://projecthub.arduino.cc/" TargetMode="External" Type="http://schemas.openxmlformats.org/officeDocument/2006/relationships/hyperlink"/><Relationship Id="rId3" Target="https://blog.arduino.cc/" TargetMode="External" Type="http://schemas.openxmlformats.org/officeDocument/2006/relationships/hyperlink"/><Relationship Id="rId2" Target="https://blog.arduino.cc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아두이노 - 위키백과, 우리 모두의 백과사전" id="1026" name="Picture 2">
            <a:hlinkClick r:id="rId2"/>
          </p:cNvPr>
          <p:cNvPicPr>
            <a:picLocks noChangeArrowheads="1"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3174" y="1402212"/>
            <a:ext cx="4341780" cy="292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63870" y="4422710"/>
            <a:ext cx="4008341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/>
              <a:t>Products – SOFTWARE – </a:t>
            </a:r>
            <a:r>
              <a:rPr altLang="ko-KR" dirty="0" err="1" lang="en-US" smtClean="0"/>
              <a:t>Aduino</a:t>
            </a:r>
            <a:r>
              <a:rPr altLang="ko-KR" dirty="0" lang="en-US" smtClean="0"/>
              <a:t> IDE</a:t>
            </a:r>
            <a:endParaRPr dirty="0" lang="ko-KR"/>
          </a:p>
        </p:txBody>
      </p:sp>
    </p:spTree>
    <p:extLst>
      <p:ext uri="{BB962C8B-B14F-4D97-AF65-F5344CB8AC3E}">
        <p14:creationId xmlns:p14="http://schemas.microsoft.com/office/powerpoint/2010/main" val="667824132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986" y="121254"/>
            <a:ext cx="2710999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아두이노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(Arduino)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268224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00049" y="943660"/>
            <a:ext cx="11296651" cy="5447645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altLang="ko-KR" dirty="0" lang="en-US" sz="2400">
                <a:latin typeface="+mn-ea"/>
              </a:rPr>
              <a:t>Arduino</a:t>
            </a:r>
            <a:r>
              <a:rPr dirty="0" lang="ko-KR" sz="2400">
                <a:latin typeface="+mn-ea"/>
              </a:rPr>
              <a:t>는 사용하기 쉬운 하드웨어 및 소프트웨어를 </a:t>
            </a:r>
            <a:r>
              <a:rPr dirty="0" err="1" lang="ko-KR" sz="2400">
                <a:latin typeface="+mn-ea"/>
              </a:rPr>
              <a:t>기반으로하는</a:t>
            </a:r>
            <a:r>
              <a:rPr dirty="0" lang="ko-KR" sz="2400">
                <a:latin typeface="+mn-ea"/>
              </a:rPr>
              <a:t> 오픈 소스 전자 플랫폼입니다</a:t>
            </a:r>
            <a:r>
              <a:rPr altLang="ko-KR" dirty="0" lang="en-US" sz="2400">
                <a:latin typeface="+mn-ea"/>
              </a:rPr>
              <a:t>. </a:t>
            </a:r>
            <a:r>
              <a:rPr dirty="0" lang="ko-KR" sz="2400">
                <a:latin typeface="+mn-ea"/>
              </a:rPr>
              <a:t>대화 형 프로젝트를 만드는 </a:t>
            </a:r>
            <a:r>
              <a:rPr dirty="0" err="1" lang="ko-KR" sz="2400">
                <a:latin typeface="+mn-ea"/>
              </a:rPr>
              <a:t>사람을위한</a:t>
            </a:r>
            <a:r>
              <a:rPr dirty="0" lang="ko-KR" sz="2400">
                <a:latin typeface="+mn-ea"/>
              </a:rPr>
              <a:t> 것입니다</a:t>
            </a:r>
            <a:r>
              <a:rPr altLang="ko-KR" dirty="0" lang="en-US" sz="2400">
                <a:latin typeface="+mn-ea"/>
              </a:rPr>
              <a:t>.</a:t>
            </a:r>
            <a:endParaRPr altLang="ko-KR" dirty="0" lang="en-US" smtClean="0" sz="2400">
              <a:latin typeface="+mn-ea"/>
            </a:endParaRP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err="1" lang="ko-KR" smtClean="0" sz="2400">
                <a:latin typeface="+mn-ea"/>
              </a:rPr>
              <a:t>아두이노</a:t>
            </a:r>
            <a:r>
              <a:rPr dirty="0" lang="ko-KR" sz="2400">
                <a:latin typeface="+mn-ea"/>
              </a:rPr>
              <a:t>(이탈리아어: </a:t>
            </a:r>
            <a:r>
              <a:rPr dirty="0" err="1" lang="ko-KR" sz="2400">
                <a:latin typeface="+mn-ea"/>
              </a:rPr>
              <a:t>Arduino</a:t>
            </a:r>
            <a:r>
              <a:rPr dirty="0" lang="ko-KR" sz="2400">
                <a:latin typeface="+mn-ea"/>
              </a:rPr>
              <a:t> </a:t>
            </a:r>
            <a:r>
              <a:rPr dirty="0" err="1" lang="ko-KR" smtClean="0" sz="2400">
                <a:latin typeface="+mn-ea"/>
              </a:rPr>
              <a:t>아르두이노</a:t>
            </a:r>
            <a:r>
              <a:rPr dirty="0" lang="ko-KR" smtClean="0" sz="2400">
                <a:latin typeface="+mn-ea"/>
              </a:rPr>
              <a:t> </a:t>
            </a:r>
            <a:r>
              <a:rPr altLang="ko-KR" dirty="0" lang="en-US" smtClean="0" sz="2400">
                <a:latin typeface="+mn-ea"/>
              </a:rPr>
              <a:t>- </a:t>
            </a:r>
            <a:r>
              <a:rPr dirty="0" lang="ko-KR" sz="2400">
                <a:latin typeface="+mn-ea"/>
              </a:rPr>
              <a:t>강력한 친구)는 오픈 소스를 기반으로 한 단일 보드 </a:t>
            </a:r>
            <a:r>
              <a:rPr dirty="0" lang="ko-KR" smtClean="0" sz="2400">
                <a:latin typeface="+mn-ea"/>
              </a:rPr>
              <a:t>마이크로컨트롤러</a:t>
            </a:r>
            <a:endParaRPr altLang="ko-KR" dirty="0" lang="en-US" smtClean="0" sz="2400">
              <a:latin typeface="+mn-ea"/>
            </a:endParaRP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err="1" lang="ko-KR" sz="2400">
                <a:latin typeface="+mn-ea"/>
              </a:rPr>
              <a:t>페르난도</a:t>
            </a:r>
            <a:r>
              <a:rPr dirty="0" lang="ko-KR" sz="2400">
                <a:latin typeface="+mn-ea"/>
              </a:rPr>
              <a:t> 바라간</a:t>
            </a:r>
            <a:r>
              <a:rPr altLang="ko-KR" dirty="0" lang="en-US" sz="2400">
                <a:latin typeface="+mn-ea"/>
              </a:rPr>
              <a:t>(Hernando </a:t>
            </a:r>
            <a:r>
              <a:rPr altLang="ko-KR" dirty="0" err="1" lang="en-US" sz="2400">
                <a:latin typeface="+mn-ea"/>
              </a:rPr>
              <a:t>Barragán</a:t>
            </a:r>
            <a:r>
              <a:rPr altLang="ko-KR" dirty="0" lang="en-US" smtClean="0" sz="2400">
                <a:latin typeface="+mn-ea"/>
              </a:rPr>
              <a:t>) → </a:t>
            </a:r>
            <a:r>
              <a:rPr dirty="0" err="1" lang="ko-KR" sz="2400">
                <a:latin typeface="+mn-ea"/>
              </a:rPr>
              <a:t>마시모</a:t>
            </a:r>
            <a:r>
              <a:rPr dirty="0" lang="ko-KR" sz="2400">
                <a:latin typeface="+mn-ea"/>
              </a:rPr>
              <a:t> 반지</a:t>
            </a:r>
            <a:r>
              <a:rPr altLang="ko-KR" dirty="0" lang="en-US" sz="2400">
                <a:latin typeface="+mn-ea"/>
              </a:rPr>
              <a:t>(Massimo </a:t>
            </a:r>
            <a:r>
              <a:rPr altLang="ko-KR" dirty="0" err="1" lang="en-US" sz="2400">
                <a:latin typeface="+mn-ea"/>
              </a:rPr>
              <a:t>Banzi</a:t>
            </a:r>
            <a:r>
              <a:rPr altLang="ko-KR" dirty="0" lang="en-US" smtClean="0" sz="2400">
                <a:latin typeface="+mn-ea"/>
              </a:rPr>
              <a:t>)</a:t>
            </a: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lang="ko-KR" sz="2400">
                <a:latin typeface="+mn-ea"/>
              </a:rPr>
              <a:t>다수의 스위치나 센서로부터 값을 받아들여</a:t>
            </a:r>
            <a:r>
              <a:rPr altLang="ko-KR" dirty="0" lang="en-US" sz="2400">
                <a:latin typeface="+mn-ea"/>
              </a:rPr>
              <a:t>, LED</a:t>
            </a:r>
            <a:r>
              <a:rPr dirty="0" lang="ko-KR" sz="2400">
                <a:latin typeface="+mn-ea"/>
              </a:rPr>
              <a:t>나 모터와 같은 외부 전자 장치들을 통제함으로써 환경과 상호작용이 가능한 물건을 만들어 낼 수 </a:t>
            </a:r>
            <a:r>
              <a:rPr dirty="0" lang="ko-KR" smtClean="0" sz="2400">
                <a:latin typeface="+mn-ea"/>
              </a:rPr>
              <a:t>있음</a:t>
            </a:r>
            <a:r>
              <a:rPr altLang="ko-KR" dirty="0" lang="en-US" smtClean="0" sz="2400">
                <a:latin typeface="+mn-ea"/>
              </a:rPr>
              <a:t>.</a:t>
            </a: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err="1" lang="ko-KR" sz="2400">
                <a:latin typeface="+mn-ea"/>
              </a:rPr>
              <a:t>아두이노</a:t>
            </a:r>
            <a:r>
              <a:rPr dirty="0" lang="ko-KR" sz="2400">
                <a:latin typeface="+mn-ea"/>
              </a:rPr>
              <a:t> 통합 개발 환경</a:t>
            </a:r>
            <a:r>
              <a:rPr altLang="ko-KR" dirty="0" lang="en-US" sz="2400">
                <a:latin typeface="+mn-ea"/>
              </a:rPr>
              <a:t>(IDE)</a:t>
            </a:r>
            <a:r>
              <a:rPr dirty="0" lang="ko-KR" sz="2400">
                <a:latin typeface="+mn-ea"/>
              </a:rPr>
              <a:t>을 제공하며</a:t>
            </a:r>
            <a:r>
              <a:rPr altLang="ko-KR" dirty="0" lang="en-US" sz="2400">
                <a:latin typeface="+mn-ea"/>
              </a:rPr>
              <a:t>, </a:t>
            </a:r>
            <a:r>
              <a:rPr dirty="0" lang="ko-KR" sz="2400">
                <a:latin typeface="+mn-ea"/>
              </a:rPr>
              <a:t>소프트웨어 개발과 </a:t>
            </a:r>
            <a:r>
              <a:rPr dirty="0" err="1" lang="ko-KR" sz="2400">
                <a:latin typeface="+mn-ea"/>
              </a:rPr>
              <a:t>실행코드</a:t>
            </a:r>
            <a:r>
              <a:rPr dirty="0" lang="ko-KR" sz="2400">
                <a:latin typeface="+mn-ea"/>
              </a:rPr>
              <a:t> 업로드도 </a:t>
            </a:r>
            <a:r>
              <a:rPr dirty="0" lang="ko-KR" smtClean="0" sz="2400">
                <a:latin typeface="+mn-ea"/>
              </a:rPr>
              <a:t>제공</a:t>
            </a:r>
            <a:r>
              <a:rPr altLang="ko-KR" dirty="0" lang="en-US" smtClean="0" sz="2400">
                <a:latin typeface="+mn-ea"/>
              </a:rPr>
              <a:t>.</a:t>
            </a: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err="1" lang="ko-KR" sz="2400">
                <a:latin typeface="+mn-ea"/>
              </a:rPr>
              <a:t>아두이노</a:t>
            </a:r>
            <a:r>
              <a:rPr dirty="0" lang="ko-KR" sz="2400">
                <a:latin typeface="+mn-ea"/>
              </a:rPr>
              <a:t> </a:t>
            </a:r>
            <a:r>
              <a:rPr dirty="0" err="1" lang="ko-KR" sz="2400">
                <a:latin typeface="+mn-ea"/>
              </a:rPr>
              <a:t>통합환경은</a:t>
            </a:r>
            <a:r>
              <a:rPr dirty="0" lang="ko-KR" sz="2400">
                <a:latin typeface="+mn-ea"/>
              </a:rPr>
              <a:t> 편집기</a:t>
            </a:r>
            <a:r>
              <a:rPr altLang="ko-KR" dirty="0" lang="en-US" sz="2400">
                <a:latin typeface="+mn-ea"/>
              </a:rPr>
              <a:t>, </a:t>
            </a:r>
            <a:r>
              <a:rPr dirty="0" lang="ko-KR" sz="2400">
                <a:latin typeface="+mn-ea"/>
              </a:rPr>
              <a:t>컴파일러</a:t>
            </a:r>
            <a:r>
              <a:rPr altLang="ko-KR" dirty="0" lang="en-US" sz="2400">
                <a:latin typeface="+mn-ea"/>
              </a:rPr>
              <a:t>, </a:t>
            </a:r>
            <a:r>
              <a:rPr dirty="0" lang="ko-KR" sz="2400">
                <a:latin typeface="+mn-ea"/>
              </a:rPr>
              <a:t>업로드 등이 합쳐진 </a:t>
            </a:r>
            <a:r>
              <a:rPr dirty="0" lang="ko-KR" smtClean="0" sz="2400">
                <a:latin typeface="+mn-ea"/>
              </a:rPr>
              <a:t>환경</a:t>
            </a:r>
            <a:endParaRPr altLang="ko-KR" dirty="0" lang="en-US" smtClean="0" sz="2400">
              <a:latin typeface="+mn-ea"/>
            </a:endParaRPr>
          </a:p>
          <a:p>
            <a:pPr algn="just" indent="-342900" lvl="1" marL="800100">
              <a:buFont charset="2" panose="05000000000000000000" pitchFamily="2" typeface="Wingdings"/>
              <a:buChar char="ü"/>
            </a:pPr>
            <a:r>
              <a:rPr dirty="0" lang="ko-KR">
                <a:latin typeface="+mn-ea"/>
              </a:rPr>
              <a:t>편집기 </a:t>
            </a:r>
            <a:r>
              <a:rPr altLang="ko-KR" dirty="0" lang="en-US">
                <a:latin typeface="+mn-ea"/>
              </a:rPr>
              <a:t>: UTF-8</a:t>
            </a:r>
            <a:r>
              <a:rPr dirty="0" lang="ko-KR">
                <a:latin typeface="+mn-ea"/>
              </a:rPr>
              <a:t>을 기반으로 하는 </a:t>
            </a:r>
            <a:r>
              <a:rPr dirty="0" lang="ko-KR" smtClean="0">
                <a:latin typeface="+mn-ea"/>
              </a:rPr>
              <a:t>편집기</a:t>
            </a:r>
            <a:r>
              <a:rPr altLang="ko-KR" dirty="0" lang="en-US" smtClean="0">
                <a:latin typeface="+mn-ea"/>
              </a:rPr>
              <a:t>.</a:t>
            </a:r>
            <a:endParaRPr altLang="ko-KR" dirty="0" lang="en-US">
              <a:latin typeface="+mn-ea"/>
            </a:endParaRPr>
          </a:p>
          <a:p>
            <a:pPr algn="just" indent="-342900" lvl="1" marL="800100">
              <a:buFont charset="2" panose="05000000000000000000" pitchFamily="2" typeface="Wingdings"/>
              <a:buChar char="ü"/>
            </a:pPr>
            <a:r>
              <a:rPr dirty="0" lang="ko-KR">
                <a:latin typeface="+mn-ea"/>
              </a:rPr>
              <a:t>컴파일러 </a:t>
            </a:r>
            <a:r>
              <a:rPr altLang="ko-KR" dirty="0" lang="en-US">
                <a:latin typeface="+mn-ea"/>
              </a:rPr>
              <a:t>: </a:t>
            </a:r>
            <a:r>
              <a:rPr altLang="ko-KR" dirty="0" err="1" lang="en-US">
                <a:latin typeface="+mn-ea"/>
              </a:rPr>
              <a:t>ATmega</a:t>
            </a:r>
            <a:r>
              <a:rPr dirty="0" lang="ko-KR">
                <a:latin typeface="+mn-ea"/>
              </a:rPr>
              <a:t>의 경우</a:t>
            </a:r>
            <a:r>
              <a:rPr altLang="ko-KR" dirty="0" lang="en-US">
                <a:latin typeface="+mn-ea"/>
              </a:rPr>
              <a:t>, AVR-GCC</a:t>
            </a:r>
            <a:r>
              <a:rPr dirty="0" lang="ko-KR">
                <a:latin typeface="+mn-ea"/>
              </a:rPr>
              <a:t>을 이용하여 </a:t>
            </a:r>
            <a:r>
              <a:rPr dirty="0" lang="ko-KR" smtClean="0">
                <a:latin typeface="+mn-ea"/>
              </a:rPr>
              <a:t>컴파일</a:t>
            </a:r>
            <a:r>
              <a:rPr altLang="ko-KR" dirty="0" lang="en-US" smtClean="0">
                <a:latin typeface="+mn-ea"/>
              </a:rPr>
              <a:t>.</a:t>
            </a:r>
            <a:endParaRPr altLang="ko-KR" dirty="0" lang="en-US">
              <a:latin typeface="+mn-ea"/>
            </a:endParaRPr>
          </a:p>
          <a:p>
            <a:pPr algn="just" indent="-342900" lvl="1" marL="800100">
              <a:buFont charset="2" panose="05000000000000000000" pitchFamily="2" typeface="Wingdings"/>
              <a:buChar char="ü"/>
            </a:pPr>
            <a:r>
              <a:rPr dirty="0" lang="ko-KR">
                <a:latin typeface="+mn-ea"/>
              </a:rPr>
              <a:t>업로드 </a:t>
            </a:r>
            <a:r>
              <a:rPr altLang="ko-KR" dirty="0" lang="en-US">
                <a:latin typeface="+mn-ea"/>
              </a:rPr>
              <a:t>: USB-UART </a:t>
            </a:r>
            <a:r>
              <a:rPr dirty="0" lang="ko-KR">
                <a:latin typeface="+mn-ea"/>
              </a:rPr>
              <a:t>변환을 하고</a:t>
            </a:r>
            <a:r>
              <a:rPr altLang="ko-KR" dirty="0" lang="en-US">
                <a:latin typeface="+mn-ea"/>
              </a:rPr>
              <a:t>, MCU</a:t>
            </a:r>
            <a:r>
              <a:rPr dirty="0" lang="ko-KR">
                <a:latin typeface="+mn-ea"/>
              </a:rPr>
              <a:t>의 </a:t>
            </a:r>
            <a:r>
              <a:rPr dirty="0" err="1" lang="ko-KR">
                <a:latin typeface="+mn-ea"/>
              </a:rPr>
              <a:t>부트로더가</a:t>
            </a:r>
            <a:r>
              <a:rPr dirty="0" lang="ko-KR">
                <a:latin typeface="+mn-ea"/>
              </a:rPr>
              <a:t> 동작하여 기계어 코드가 </a:t>
            </a:r>
            <a:r>
              <a:rPr dirty="0" lang="ko-KR" smtClean="0">
                <a:latin typeface="+mn-ea"/>
              </a:rPr>
              <a:t>업로드</a:t>
            </a:r>
            <a:r>
              <a:rPr altLang="ko-KR" dirty="0" lang="en-US" smtClean="0">
                <a:latin typeface="+mn-ea"/>
              </a:rPr>
              <a:t>.</a:t>
            </a:r>
            <a:endParaRPr altLang="ko-KR" dirty="0" lang="en-US">
              <a:latin typeface="+mn-ea"/>
            </a:endParaRPr>
          </a:p>
          <a:p>
            <a:pPr algn="just" indent="-342900" lvl="1" marL="800100">
              <a:buFont charset="2" panose="05000000000000000000" pitchFamily="2" typeface="Wingdings"/>
              <a:buChar char="ü"/>
            </a:pPr>
            <a:r>
              <a:rPr dirty="0" lang="ko-KR">
                <a:latin typeface="+mn-ea"/>
              </a:rPr>
              <a:t>라이브러리 관리 </a:t>
            </a:r>
            <a:r>
              <a:rPr altLang="ko-KR" dirty="0" lang="en-US">
                <a:latin typeface="+mn-ea"/>
              </a:rPr>
              <a:t>: </a:t>
            </a:r>
            <a:r>
              <a:rPr dirty="0" lang="ko-KR">
                <a:latin typeface="+mn-ea"/>
              </a:rPr>
              <a:t>등록 된 라이브러리 목록 및 예제를 </a:t>
            </a:r>
            <a:r>
              <a:rPr dirty="0" lang="ko-KR" smtClean="0">
                <a:latin typeface="+mn-ea"/>
              </a:rPr>
              <a:t>지원</a:t>
            </a:r>
            <a:r>
              <a:rPr altLang="ko-KR" dirty="0" lang="en-US" smtClean="0">
                <a:latin typeface="+mn-ea"/>
              </a:rPr>
              <a:t>. </a:t>
            </a:r>
            <a:r>
              <a:rPr dirty="0" lang="ko-KR">
                <a:latin typeface="+mn-ea"/>
              </a:rPr>
              <a:t>공개된 </a:t>
            </a:r>
            <a:r>
              <a:rPr dirty="0" err="1" lang="ko-KR">
                <a:latin typeface="+mn-ea"/>
              </a:rPr>
              <a:t>아두이노</a:t>
            </a:r>
            <a:r>
              <a:rPr dirty="0" lang="ko-KR">
                <a:latin typeface="+mn-ea"/>
              </a:rPr>
              <a:t> 라이브러리 찾아 파일을 받아 등록하면 초기에 장착되지 않은 각종 라이브러리를 등록 사용할 수 </a:t>
            </a:r>
            <a:r>
              <a:rPr dirty="0" lang="ko-KR" smtClean="0">
                <a:latin typeface="+mn-ea"/>
              </a:rPr>
              <a:t>있음</a:t>
            </a:r>
            <a:r>
              <a:rPr altLang="ko-KR" dirty="0" lang="en-US" smtClean="0">
                <a:latin typeface="+mn-ea"/>
              </a:rPr>
              <a:t>. </a:t>
            </a:r>
            <a:r>
              <a:rPr dirty="0" lang="ko-KR">
                <a:latin typeface="+mn-ea"/>
              </a:rPr>
              <a:t>라이브러리 관리 프로그램도 검색 기능과 등록 기능을 </a:t>
            </a:r>
            <a:r>
              <a:rPr dirty="0" lang="ko-KR" smtClean="0">
                <a:latin typeface="+mn-ea"/>
              </a:rPr>
              <a:t>제공</a:t>
            </a:r>
            <a:r>
              <a:rPr altLang="ko-KR" dirty="0" lang="en-US" smtClean="0">
                <a:latin typeface="+mn-ea"/>
              </a:rPr>
              <a:t>.</a:t>
            </a:r>
            <a:endParaRPr dirty="0" lang="ko-KR" sz="2400">
              <a:latin typeface="+mn-ea"/>
            </a:endParaRPr>
          </a:p>
        </p:txBody>
      </p:sp>
      <p:pic>
        <p:nvPicPr>
          <p:cNvPr descr="https://upload.wikimedia.org/wikipedia/commons/thumb/3/38/Arduino_Uno_-_R3.jpg/250px-Arduino_Uno_-_R3.jpg" id="1026" name="Picture 2">
            <a:hlinkClick r:id="rId3"/>
          </p:cNvPr>
          <p:cNvPicPr>
            <a:picLocks noChangeArrowheads="1"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6" t="9923"/>
          <a:stretch/>
        </p:blipFill>
        <p:spPr>
          <a:xfrm>
            <a:off x="10810874" y="28008"/>
            <a:ext cx="1218035" cy="9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217019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986" y="121254"/>
            <a:ext cx="2710999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아두이노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(Arduino)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268224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00049" y="943660"/>
            <a:ext cx="11296651" cy="3046988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altLang="ko-KR" dirty="0" lang="en-US" sz="2400">
                <a:latin typeface="+mn-ea"/>
              </a:rPr>
              <a:t>8</a:t>
            </a:r>
            <a:r>
              <a:rPr dirty="0" lang="ko-KR" sz="2400">
                <a:latin typeface="+mn-ea"/>
              </a:rPr>
              <a:t>비트 </a:t>
            </a:r>
            <a:r>
              <a:rPr dirty="0" err="1" lang="ko-KR" sz="2400">
                <a:latin typeface="+mn-ea"/>
              </a:rPr>
              <a:t>임베디드</a:t>
            </a:r>
            <a:r>
              <a:rPr dirty="0" lang="ko-KR" sz="2400">
                <a:latin typeface="+mn-ea"/>
              </a:rPr>
              <a:t> 시스템 프로그래밍에 있어서는 프로그램 최적화에 매우 </a:t>
            </a:r>
            <a:r>
              <a:rPr dirty="0" err="1" lang="ko-KR" sz="2400">
                <a:latin typeface="+mn-ea"/>
              </a:rPr>
              <a:t>신경써야</a:t>
            </a:r>
            <a:r>
              <a:rPr dirty="0" lang="ko-KR" sz="2400">
                <a:latin typeface="+mn-ea"/>
              </a:rPr>
              <a:t> 함</a:t>
            </a:r>
            <a:r>
              <a:rPr altLang="ko-KR" dirty="0" lang="en-US" smtClean="0" sz="2400">
                <a:latin typeface="+mn-ea"/>
              </a:rPr>
              <a:t>.</a:t>
            </a: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err="1" lang="ko-KR" sz="2400">
                <a:latin typeface="+mn-ea"/>
              </a:rPr>
              <a:t>아두이노</a:t>
            </a:r>
            <a:r>
              <a:rPr dirty="0" lang="ko-KR" sz="2400">
                <a:latin typeface="+mn-ea"/>
              </a:rPr>
              <a:t> 자체의 성능 제약을 피하려면</a:t>
            </a:r>
            <a:r>
              <a:rPr altLang="ko-KR" dirty="0" lang="en-US" sz="2400">
                <a:latin typeface="+mn-ea"/>
              </a:rPr>
              <a:t>, </a:t>
            </a:r>
            <a:r>
              <a:rPr dirty="0" err="1" lang="ko-KR" sz="2400">
                <a:latin typeface="+mn-ea"/>
              </a:rPr>
              <a:t>라즈베리</a:t>
            </a:r>
            <a:r>
              <a:rPr dirty="0" lang="ko-KR" sz="2400">
                <a:latin typeface="+mn-ea"/>
              </a:rPr>
              <a:t> 파이 같은 다른 장치를 </a:t>
            </a:r>
            <a:r>
              <a:rPr dirty="0" lang="ko-KR" smtClean="0" sz="2400">
                <a:latin typeface="+mn-ea"/>
              </a:rPr>
              <a:t>연결해</a:t>
            </a:r>
            <a:r>
              <a:rPr altLang="ko-KR" dirty="0" lang="en-US" sz="2400">
                <a:latin typeface="+mn-ea"/>
              </a:rPr>
              <a:t>(</a:t>
            </a:r>
            <a:r>
              <a:rPr altLang="ko-KR" dirty="0" err="1" lang="en-US" smtClean="0" sz="2400">
                <a:latin typeface="+mn-ea"/>
              </a:rPr>
              <a:t>Firmata</a:t>
            </a:r>
            <a:r>
              <a:rPr altLang="ko-KR" dirty="0" lang="en-US" smtClean="0" sz="2400">
                <a:latin typeface="+mn-ea"/>
              </a:rPr>
              <a:t>)</a:t>
            </a:r>
            <a:r>
              <a:rPr dirty="0" lang="ko-KR" smtClean="0" sz="2400">
                <a:latin typeface="+mn-ea"/>
              </a:rPr>
              <a:t> </a:t>
            </a:r>
            <a:r>
              <a:rPr dirty="0" lang="ko-KR" sz="2400">
                <a:latin typeface="+mn-ea"/>
              </a:rPr>
              <a:t>각종 연산은 다른 데에서 처리하고</a:t>
            </a:r>
            <a:r>
              <a:rPr altLang="ko-KR" dirty="0" lang="en-US" sz="2400">
                <a:latin typeface="+mn-ea"/>
              </a:rPr>
              <a:t>, </a:t>
            </a:r>
            <a:r>
              <a:rPr dirty="0" err="1" lang="ko-KR" sz="2400">
                <a:latin typeface="+mn-ea"/>
              </a:rPr>
              <a:t>아두이노</a:t>
            </a:r>
            <a:r>
              <a:rPr dirty="0" lang="ko-KR" sz="2400">
                <a:latin typeface="+mn-ea"/>
              </a:rPr>
              <a:t> 보드는 센서나 </a:t>
            </a:r>
            <a:r>
              <a:rPr dirty="0" err="1" lang="ko-KR" sz="2400">
                <a:latin typeface="+mn-ea"/>
              </a:rPr>
              <a:t>액추에이터</a:t>
            </a:r>
            <a:r>
              <a:rPr dirty="0" lang="ko-KR" sz="2400">
                <a:latin typeface="+mn-ea"/>
              </a:rPr>
              <a:t> 등 각종 주변기기의 신호 입출력을 관리하는 관제탑으로만 </a:t>
            </a:r>
            <a:r>
              <a:rPr dirty="0" lang="ko-KR" smtClean="0" sz="2400">
                <a:latin typeface="+mn-ea"/>
              </a:rPr>
              <a:t>사용</a:t>
            </a:r>
            <a:r>
              <a:rPr altLang="ko-KR" dirty="0" lang="en-US" smtClean="0" sz="2400">
                <a:latin typeface="+mn-ea"/>
              </a:rPr>
              <a:t>.</a:t>
            </a:r>
          </a:p>
          <a:p>
            <a:pPr algn="just" indent="-342900" marL="342900">
              <a:buFont charset="0" panose="020B0604020202020204" pitchFamily="34" typeface="Arial"/>
              <a:buChar char="•"/>
            </a:pPr>
            <a:r>
              <a:rPr dirty="0" err="1" lang="ko-KR" sz="2400">
                <a:latin typeface="+mn-ea"/>
              </a:rPr>
              <a:t>아두이노에는</a:t>
            </a:r>
            <a:r>
              <a:rPr dirty="0" lang="ko-KR" sz="2400">
                <a:latin typeface="+mn-ea"/>
              </a:rPr>
              <a:t> 최소한의 코드만 올리고 연산 부하가 큰 나머지 부분은 </a:t>
            </a:r>
            <a:r>
              <a:rPr altLang="ko-KR" dirty="0" lang="en-US" sz="2400">
                <a:latin typeface="+mn-ea"/>
              </a:rPr>
              <a:t>PC</a:t>
            </a:r>
            <a:r>
              <a:rPr dirty="0" lang="ko-KR" sz="2400">
                <a:latin typeface="+mn-ea"/>
              </a:rPr>
              <a:t>나 </a:t>
            </a:r>
            <a:r>
              <a:rPr dirty="0" err="1" lang="ko-KR" sz="2400">
                <a:latin typeface="+mn-ea"/>
              </a:rPr>
              <a:t>라즈베리</a:t>
            </a:r>
            <a:r>
              <a:rPr dirty="0" lang="ko-KR" sz="2400">
                <a:latin typeface="+mn-ea"/>
              </a:rPr>
              <a:t> 파이 같은 별도의 장치의 자원을 사용하여 돌리는 식으로 동작시키는 게 가능</a:t>
            </a:r>
          </a:p>
        </p:txBody>
      </p:sp>
      <p:pic>
        <p:nvPicPr>
          <p:cNvPr descr="아두이노(Arduino) 란? – 나는 메이커다! (iamamaker.kr)" id="2050" name="Picture 2">
            <a:hlinkClick r:id="rId2"/>
          </p:cNvPr>
          <p:cNvPicPr>
            <a:picLocks noChangeArrowheads="1" noChangeAspect="1"/>
          </p:cNvPicPr>
          <p:nvPr/>
        </p:nvPicPr>
        <p:blipFill>
          <a:blip cstate="print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b="99030" l="1828" r="99785" t="3772">
                        <a14:foregroundMark x1="16022" x2="38495" y1="12177" y2="23491"/>
                        <a14:foregroundMark x1="56129" x2="62903" y1="32112" y2="32112"/>
                        <a14:foregroundMark x1="66667" x2="88172" y1="32759" y2="31789"/>
                        <a14:foregroundMark x1="77957" x2="77957" y1="18642" y2="18642"/>
                        <a14:foregroundMark x1="78925" x2="83441" y1="18642" y2="21552"/>
                        <a14:foregroundMark x1="81505" x2="84946" y1="11530" y2="11530"/>
                        <a14:foregroundMark x1="50000" x2="52258" y1="45043" y2="55280"/>
                        <a14:foregroundMark x1="20538" x2="23763" y1="31466" y2="38578"/>
                        <a14:foregroundMark x1="74731" x2="84301" y1="63039" y2="63039"/>
                        <a14:foregroundMark x1="17634" x2="41720" y1="65302" y2="76509"/>
                        <a14:foregroundMark x1="39140" x2="43011" y1="65302" y2="76509"/>
                        <a14:foregroundMark x1="12796" x2="42043" y1="62392" y2="63039"/>
                        <a14:foregroundMark x1="12473" x2="13763" y1="63039" y2="80065"/>
                        <a14:foregroundMark x1="45806" x2="54516" y1="49246" y2="49246"/>
                        <a14:backgroundMark x1="71183" x2="71183" y1="37931" y2="37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44198" y="3714749"/>
            <a:ext cx="2968659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descr="https://mblogthumb-phinf.pstatic.net/MjAxODEyMTNfNDkg/MDAxNTQ0NjI4NjAyNjE3.pHWHnpRc0Wszo0WV9seMLknFxyCKS2W1LInoOFS7Zicg.FJYnSj9HSVr2oak2zFlNAcKg8nPVMpfdSNhjCX2VNLQg.PNG.qazws78941/9%EC%9E%A5_%EA%B0%95%EC%9D%98%EC%9E%90%EB%A3%8C2.png?type=w800" id="2052" name="Picture 4">
            <a:hlinkClick r:id="rId5"/>
          </p:cNvPr>
          <p:cNvPicPr>
            <a:picLocks noChangeArrowheads="1"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77497" y="3714749"/>
            <a:ext cx="2482726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56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986" y="121254"/>
            <a:ext cx="3685624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LED(Light Emitting Diode)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374161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400049" y="943660"/>
            <a:ext cx="11439526" cy="3046988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pPr indent="-342900" marL="342900">
              <a:buFont charset="0" panose="020B0604020202020204" pitchFamily="34" typeface="Arial"/>
              <a:buChar char="•"/>
            </a:pPr>
            <a:r>
              <a:rPr dirty="0" lang="ko-KR" sz="2400">
                <a:hlinkClick r:id="rId2"/>
              </a:rPr>
              <a:t>순방향으로 전압을 가했을 때 발광하는 반도체 소자</a:t>
            </a:r>
            <a:endParaRPr altLang="ko-KR" dirty="0" lang="en-US" smtClean="0" sz="2400"/>
          </a:p>
          <a:p>
            <a:pPr indent="-342900" marL="342900">
              <a:buFont charset="0" panose="020B0604020202020204" pitchFamily="34" typeface="Arial"/>
              <a:buChar char="•"/>
            </a:pPr>
            <a:r>
              <a:rPr altLang="ko-KR" dirty="0" lang="en-US" smtClean="0" sz="2400"/>
              <a:t>“</a:t>
            </a:r>
            <a:r>
              <a:rPr dirty="0" err="1" lang="ko-KR" smtClean="0" sz="2400"/>
              <a:t>Light</a:t>
            </a:r>
            <a:r>
              <a:rPr dirty="0" lang="ko-KR" smtClean="0" sz="2400"/>
              <a:t> </a:t>
            </a:r>
            <a:r>
              <a:rPr dirty="0" err="1" lang="ko-KR" sz="2400"/>
              <a:t>Emitting</a:t>
            </a:r>
            <a:r>
              <a:rPr dirty="0" lang="ko-KR" sz="2400"/>
              <a:t> </a:t>
            </a:r>
            <a:r>
              <a:rPr dirty="0" err="1" lang="ko-KR" sz="2400"/>
              <a:t>Diode”의</a:t>
            </a:r>
            <a:r>
              <a:rPr dirty="0" lang="ko-KR" sz="2400"/>
              <a:t> 이니셜을 조합한 명칭으로, 「발광 </a:t>
            </a:r>
            <a:r>
              <a:rPr dirty="0" lang="ko-KR" smtClean="0" sz="2400"/>
              <a:t>다이오드 혹은</a:t>
            </a:r>
            <a:r>
              <a:rPr altLang="ko-KR" dirty="0" lang="en-US" smtClean="0" sz="2400"/>
              <a:t> </a:t>
            </a:r>
            <a:r>
              <a:rPr dirty="0" lang="ko-KR" sz="2400"/>
              <a:t>빛나는 </a:t>
            </a:r>
            <a:r>
              <a:rPr dirty="0" err="1" lang="ko-KR" sz="2400"/>
              <a:t>반도체」라고도</a:t>
            </a:r>
            <a:r>
              <a:rPr dirty="0" lang="ko-KR" sz="2400"/>
              <a:t> 함</a:t>
            </a:r>
            <a:r>
              <a:rPr dirty="0" lang="ko-KR" smtClean="0" sz="2400"/>
              <a:t>. </a:t>
            </a:r>
            <a:endParaRPr altLang="ko-KR" dirty="0" lang="en-US" smtClean="0" sz="2400"/>
          </a:p>
          <a:p>
            <a:pPr indent="-342900" marL="342900">
              <a:buFont charset="0" panose="020B0604020202020204" pitchFamily="34" typeface="Arial"/>
              <a:buChar char="•"/>
            </a:pPr>
            <a:r>
              <a:rPr dirty="0" lang="ko-KR" smtClean="0" sz="2400"/>
              <a:t>전기 </a:t>
            </a:r>
            <a:r>
              <a:rPr dirty="0" lang="ko-KR" sz="2400"/>
              <a:t>에너지를 직접 빛 에너지로 변환할 수 있으므로, 에너지 효율이 우수하고 </a:t>
            </a:r>
            <a:r>
              <a:rPr dirty="0" err="1" lang="ko-KR" sz="2400"/>
              <a:t>저소비전력</a:t>
            </a:r>
            <a:r>
              <a:rPr dirty="0" lang="ko-KR" sz="2400"/>
              <a:t>, 고속 응답 등의 특징이 </a:t>
            </a:r>
            <a:r>
              <a:rPr dirty="0" lang="ko-KR" smtClean="0" sz="2400"/>
              <a:t>있음.</a:t>
            </a:r>
            <a:endParaRPr altLang="ko-KR" dirty="0" lang="en-US" smtClean="0" sz="2400"/>
          </a:p>
          <a:p>
            <a:pPr indent="-342900" marL="342900">
              <a:buFont charset="0" panose="020B0604020202020204" pitchFamily="34" typeface="Arial"/>
              <a:buChar char="•"/>
            </a:pPr>
            <a:r>
              <a:rPr dirty="0" lang="ko-KR" sz="2400"/>
              <a:t>전류의 양에 대하여 빛의 세기가 결정되며 최대 정격전류를 넘으면 소자가 파손되어 수명이 짧아지거나 심할 경우 사용할 수 없게 </a:t>
            </a:r>
            <a:r>
              <a:rPr dirty="0" lang="ko-KR" smtClean="0" sz="2400"/>
              <a:t>됨</a:t>
            </a:r>
            <a:r>
              <a:rPr altLang="ko-KR" dirty="0" lang="en-US" smtClean="0" sz="2400"/>
              <a:t>.</a:t>
            </a:r>
          </a:p>
          <a:p>
            <a:pPr indent="-342900" marL="342900">
              <a:buFont charset="0" panose="020B0604020202020204" pitchFamily="34" typeface="Arial"/>
              <a:buChar char="•"/>
            </a:pPr>
            <a:r>
              <a:rPr dirty="0" lang="ko-KR" sz="2400"/>
              <a:t>높은 출력 제품의 대부분은 </a:t>
            </a:r>
            <a:r>
              <a:rPr dirty="0" err="1" lang="ko-KR" sz="2400"/>
              <a:t>방열판같은</a:t>
            </a:r>
            <a:r>
              <a:rPr dirty="0" lang="ko-KR" sz="2400"/>
              <a:t> 방열 대책이 </a:t>
            </a:r>
            <a:r>
              <a:rPr dirty="0" lang="ko-KR" smtClean="0" sz="2400"/>
              <a:t>필요</a:t>
            </a:r>
            <a:r>
              <a:rPr altLang="ko-KR" dirty="0" lang="en-US" smtClean="0" sz="2400"/>
              <a:t>.</a:t>
            </a:r>
          </a:p>
        </p:txBody>
      </p:sp>
      <p:pic>
        <p:nvPicPr>
          <p:cNvPr descr="https://postfiles.pstatic.net/MjAyMDAyMTRfMjc4/MDAxNTgxNjgzNzYzNjk1.f91kEn0Yxkq8EjkPZr0xYB5NazjkGgcYi5_XaKFFtXAg.E61NuVa4fD-iZbWyioVGSB_T4NI4Yfl2KL6k1bRmUJ4g.PNG.emperonics/%EC%8A%A4%ED%81%AC%EB%A6%B0%EC%83%B7_2020-02-14_%EC%98%A4%ED%9B%84_9.35.53.png?type=w966" id="3076" name="Picture 4"/>
          <p:cNvPicPr>
            <a:picLocks noChangeArrowheads="1"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09"/>
          <a:stretch/>
        </p:blipFill>
        <p:spPr>
          <a:xfrm>
            <a:off x="6343650" y="4351389"/>
            <a:ext cx="4235378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descr="https://mblogthumb-phinf.pstatic.net/MjAyMDEwMDZfODQg/MDAxNjAxOTY1OTE1NDky.xLZKtYoXTa7-MtWBt4AExsF9eQAZaIcYsrhgdDOY914g.klr1MJBS87rqaGuzfyvvIxjFduCnGxbqt7m_GABFhFEg.PNG.chgy2131/image.png?type=w800" id="3080" name="Picture 8">
            <a:hlinkClick r:id="rId4"/>
          </p:cNvPr>
          <p:cNvPicPr>
            <a:picLocks noChangeArrowheads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6375" y="4143375"/>
            <a:ext cx="2720975" cy="242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85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7155" l="5333" r="89091" t="427"/>
                    </a14:imgEffect>
                  </a14:imgLayer>
                </a14:imgProps>
              </a:ext>
            </a:extLst>
          </a:blip>
          <a:srcRect b="3802" l="10724" r="11217" t="1986"/>
          <a:stretch/>
        </p:blipFill>
        <p:spPr>
          <a:xfrm>
            <a:off x="950480" y="887793"/>
            <a:ext cx="4730620" cy="486523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33232" y="1416062"/>
            <a:ext cx="2376138" cy="26161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err="1" lang="ko-KR" smtClean="0" sz="1600"/>
              <a:t>void</a:t>
            </a:r>
            <a:r>
              <a:rPr dirty="0" lang="ko-KR" smtClean="0" sz="1600"/>
              <a:t> setup(){</a:t>
            </a:r>
          </a:p>
          <a:p>
            <a:r>
              <a:rPr dirty="0" lang="ko-KR" smtClean="0" sz="1600"/>
              <a:t>  </a:t>
            </a:r>
            <a:r>
              <a:rPr dirty="0" err="1" lang="ko-KR" smtClean="0" sz="1600"/>
              <a:t>pinMode</a:t>
            </a:r>
            <a:r>
              <a:rPr dirty="0" lang="ko-KR" smtClean="0" sz="1600"/>
              <a:t>(7, OUTPUT);</a:t>
            </a:r>
          </a:p>
          <a:p>
            <a:r>
              <a:rPr dirty="0" lang="ko-KR" smtClean="0" sz="1600"/>
              <a:t>}</a:t>
            </a:r>
          </a:p>
          <a:p>
            <a:endParaRPr dirty="0" lang="ko-KR" smtClean="0" sz="1600"/>
          </a:p>
          <a:p>
            <a:r>
              <a:rPr dirty="0" err="1" lang="ko-KR" smtClean="0" sz="1600"/>
              <a:t>void</a:t>
            </a:r>
            <a:r>
              <a:rPr dirty="0" lang="ko-KR" smtClean="0" sz="1600"/>
              <a:t> loop() {</a:t>
            </a:r>
          </a:p>
          <a:p>
            <a:r>
              <a:rPr dirty="0" lang="ko-KR" smtClean="0" sz="1600"/>
              <a:t>  </a:t>
            </a:r>
            <a:r>
              <a:rPr dirty="0" err="1" lang="ko-KR" smtClean="0" sz="1600"/>
              <a:t>digitalWrite</a:t>
            </a:r>
            <a:r>
              <a:rPr dirty="0" lang="ko-KR" smtClean="0" sz="1600"/>
              <a:t>(7, HIGH);</a:t>
            </a:r>
          </a:p>
          <a:p>
            <a:r>
              <a:rPr dirty="0" lang="ko-KR" smtClean="0" sz="1600"/>
              <a:t>  </a:t>
            </a:r>
            <a:r>
              <a:rPr dirty="0" err="1" lang="ko-KR" smtClean="0" sz="1600"/>
              <a:t>delay</a:t>
            </a:r>
            <a:r>
              <a:rPr dirty="0" lang="ko-KR" smtClean="0" sz="1600"/>
              <a:t>(1000);</a:t>
            </a:r>
          </a:p>
          <a:p>
            <a:r>
              <a:rPr dirty="0" lang="ko-KR" smtClean="0" sz="1600"/>
              <a:t>  </a:t>
            </a:r>
            <a:r>
              <a:rPr dirty="0" err="1" lang="ko-KR" smtClean="0" sz="1600"/>
              <a:t>digitalWrite</a:t>
            </a:r>
            <a:r>
              <a:rPr dirty="0" lang="ko-KR" smtClean="0" sz="1600"/>
              <a:t>(7, LOW);</a:t>
            </a:r>
          </a:p>
          <a:p>
            <a:r>
              <a:rPr dirty="0" lang="ko-KR" smtClean="0" sz="1600"/>
              <a:t>  </a:t>
            </a:r>
            <a:r>
              <a:rPr dirty="0" err="1" lang="ko-KR" smtClean="0" sz="1600"/>
              <a:t>delay</a:t>
            </a:r>
            <a:r>
              <a:rPr dirty="0" lang="ko-KR" smtClean="0" sz="1600"/>
              <a:t>(1000);</a:t>
            </a:r>
          </a:p>
          <a:p>
            <a:r>
              <a:rPr dirty="0" lang="ko-KR" smtClean="0" sz="1600"/>
              <a:t>}</a:t>
            </a:r>
            <a:endParaRPr dirty="0" lang="ko-KR" sz="1600"/>
          </a:p>
        </p:txBody>
      </p:sp>
      <p:sp>
        <p:nvSpPr>
          <p:cNvPr id="6" name="TextBox 5"/>
          <p:cNvSpPr txBox="1"/>
          <p:nvPr/>
        </p:nvSpPr>
        <p:spPr>
          <a:xfrm>
            <a:off x="55986" y="121254"/>
            <a:ext cx="3392275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아두이노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LED 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제어하기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0" y="662475"/>
            <a:ext cx="351764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hlinkClick r:id="rId4"/>
          </p:cNvPr>
          <p:cNvSpPr txBox="1"/>
          <p:nvPr/>
        </p:nvSpPr>
        <p:spPr>
          <a:xfrm>
            <a:off x="9234352" y="1416062"/>
            <a:ext cx="2311851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/>
              <a:t>Pull up &amp; pull down</a:t>
            </a:r>
            <a:endParaRPr dirty="0" lang="ko-KR"/>
          </a:p>
        </p:txBody>
      </p:sp>
      <p:pic>
        <p:nvPicPr>
          <p:cNvPr id="3" name="그림 2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288" y="1953935"/>
            <a:ext cx="2619978" cy="1780315"/>
          </a:xfrm>
          <a:prstGeom prst="rect">
            <a:avLst/>
          </a:prstGeom>
        </p:spPr>
      </p:pic>
      <p:sp>
        <p:nvSpPr>
          <p:cNvPr id="9" name="직사각형 8">
            <a:hlinkClick r:id="rId7"/>
          </p:cNvPr>
          <p:cNvSpPr/>
          <p:nvPr/>
        </p:nvSpPr>
        <p:spPr>
          <a:xfrm>
            <a:off x="5805220" y="4231975"/>
            <a:ext cx="1265090" cy="369332"/>
          </a:xfrm>
          <a:prstGeom prst="rect">
            <a:avLst/>
          </a:prstGeom>
        </p:spPr>
        <p:txBody>
          <a:bodyPr numCol="1" wrap="none">
            <a:spAutoFit/>
          </a:bodyPr>
          <a:lstStyle/>
          <a:p>
            <a:r>
              <a:rPr dirty="0" err="1" lang="ko-KR"/>
              <a:t>pinMode</a:t>
            </a:r>
            <a:r>
              <a:rPr dirty="0" lang="ko-KR"/>
              <a:t>()</a:t>
            </a:r>
          </a:p>
        </p:txBody>
      </p:sp>
      <p:sp>
        <p:nvSpPr>
          <p:cNvPr id="10" name="직사각형 9">
            <a:hlinkClick r:id="rId8"/>
          </p:cNvPr>
          <p:cNvSpPr/>
          <p:nvPr/>
        </p:nvSpPr>
        <p:spPr>
          <a:xfrm>
            <a:off x="5805220" y="5383693"/>
            <a:ext cx="1465823" cy="369332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err="1" lang="ko-KR"/>
              <a:t>digitalWrite</a:t>
            </a:r>
            <a:r>
              <a:rPr dirty="0" lang="ko-KR"/>
              <a:t>()</a:t>
            </a:r>
          </a:p>
        </p:txBody>
      </p:sp>
      <p:sp>
        <p:nvSpPr>
          <p:cNvPr id="11" name="직사각형 10">
            <a:hlinkClick r:id="rId9"/>
          </p:cNvPr>
          <p:cNvSpPr/>
          <p:nvPr/>
        </p:nvSpPr>
        <p:spPr>
          <a:xfrm>
            <a:off x="5805220" y="4613681"/>
            <a:ext cx="6002013" cy="523220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err="1" lang="ko-KR" sz="1400"/>
              <a:t>아두이노의</a:t>
            </a:r>
            <a:r>
              <a:rPr dirty="0" lang="ko-KR" sz="1400"/>
              <a:t> 핀은 출력 또는 입력으로 구성할 수 있으며 이러한 설정은 </a:t>
            </a:r>
            <a:r>
              <a:rPr dirty="0" err="1" lang="ko-KR" sz="1400"/>
              <a:t>pinMode</a:t>
            </a:r>
            <a:r>
              <a:rPr dirty="0" lang="ko-KR" sz="1400"/>
              <a:t>() 함수를 사용하여 설정</a:t>
            </a:r>
          </a:p>
        </p:txBody>
      </p:sp>
      <p:sp>
        <p:nvSpPr>
          <p:cNvPr id="12" name="직사각형 11">
            <a:hlinkClick r:id="rId10"/>
          </p:cNvPr>
          <p:cNvSpPr/>
          <p:nvPr/>
        </p:nvSpPr>
        <p:spPr>
          <a:xfrm>
            <a:off x="5805220" y="5805761"/>
            <a:ext cx="2853005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주어진 핀 번호에 대해 값을 기록</a:t>
            </a:r>
            <a:endParaRPr dirty="0" lang="ko-KR" sz="1400"/>
          </a:p>
        </p:txBody>
      </p:sp>
      <p:sp>
        <p:nvSpPr>
          <p:cNvPr id="13" name="TextBox 12">
            <a:hlinkClick r:id="rId11"/>
          </p:cNvPr>
          <p:cNvSpPr txBox="1"/>
          <p:nvPr/>
        </p:nvSpPr>
        <p:spPr>
          <a:xfrm>
            <a:off x="836023" y="5965371"/>
            <a:ext cx="718466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lang="en-US" smtClean="0"/>
              <a:t>GPIO</a:t>
            </a:r>
            <a:endParaRPr dirty="0" lang="ko-KR"/>
          </a:p>
        </p:txBody>
      </p:sp>
      <p:sp>
        <p:nvSpPr>
          <p:cNvPr id="14" name="직사각형 13">
            <a:hlinkClick r:id="rId12"/>
          </p:cNvPr>
          <p:cNvSpPr/>
          <p:nvPr/>
        </p:nvSpPr>
        <p:spPr>
          <a:xfrm>
            <a:off x="8777020" y="5383693"/>
            <a:ext cx="1465823" cy="369332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altLang="ko-KR" dirty="0" lang="en-US" smtClean="0"/>
              <a:t>delay()</a:t>
            </a:r>
            <a:endParaRPr dirty="0" lang="ko-KR"/>
          </a:p>
        </p:txBody>
      </p:sp>
      <p:sp>
        <p:nvSpPr>
          <p:cNvPr id="15" name="직사각형 14">
            <a:hlinkClick r:id="rId13"/>
          </p:cNvPr>
          <p:cNvSpPr/>
          <p:nvPr/>
        </p:nvSpPr>
        <p:spPr>
          <a:xfrm>
            <a:off x="8719870" y="5805761"/>
            <a:ext cx="2853005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 잠시 멈춤</a:t>
            </a:r>
            <a:r>
              <a:rPr altLang="ko-KR" dirty="0" lang="en-US" smtClean="0" sz="1400"/>
              <a:t>(milliseconds)</a:t>
            </a:r>
            <a:endParaRPr dirty="0" lang="ko-KR" sz="1400"/>
          </a:p>
        </p:txBody>
      </p:sp>
    </p:spTree>
    <p:extLst>
      <p:ext uri="{BB962C8B-B14F-4D97-AF65-F5344CB8AC3E}">
        <p14:creationId xmlns:p14="http://schemas.microsoft.com/office/powerpoint/2010/main" val="1675438152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986" y="121254"/>
            <a:ext cx="3852337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void setup() &amp; void loop()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3819525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695325" y="962710"/>
            <a:ext cx="6096000" cy="830997"/>
          </a:xfrm>
          <a:prstGeom prst="rect">
            <a:avLst/>
          </a:prstGeom>
        </p:spPr>
        <p:txBody>
          <a:bodyPr numCol="1">
            <a:spAutoFit/>
          </a:bodyPr>
          <a:lstStyle/>
          <a:p>
            <a:pPr indent="-342900" marL="342900">
              <a:buFont charset="0" panose="020B0604020202020204" pitchFamily="34" typeface="Arial"/>
              <a:buChar char="•"/>
            </a:pPr>
            <a:r>
              <a:rPr dirty="0" lang="ko-KR" sz="2400">
                <a:hlinkClick r:id="rId2"/>
              </a:rPr>
              <a:t>setup</a:t>
            </a:r>
            <a:r>
              <a:rPr dirty="0" lang="ko-KR" sz="2400"/>
              <a:t> : 설정하다, 설치하다.</a:t>
            </a:r>
          </a:p>
          <a:p>
            <a:pPr indent="-342900" marL="342900">
              <a:buFont charset="0" panose="020B0604020202020204" pitchFamily="34" typeface="Arial"/>
              <a:buChar char="•"/>
            </a:pPr>
            <a:r>
              <a:rPr dirty="0" lang="ko-KR" sz="2400">
                <a:hlinkClick r:id="rId3"/>
              </a:rPr>
              <a:t>loop</a:t>
            </a:r>
            <a:r>
              <a:rPr dirty="0" lang="ko-KR" sz="2400"/>
              <a:t> : 순환, 계속적으로 반복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089" y="4964324"/>
            <a:ext cx="3910472" cy="1358196"/>
          </a:xfrm>
          <a:prstGeom prst="rect">
            <a:avLst/>
          </a:prstGeom>
        </p:spPr>
      </p:pic>
      <p:pic>
        <p:nvPicPr>
          <p:cNvPr id="9" name="그림 8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93" y="1911964"/>
            <a:ext cx="4217168" cy="293410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362" y="1793707"/>
            <a:ext cx="4298412" cy="277693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4083" y="4685889"/>
            <a:ext cx="2670819" cy="191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6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4852610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전송 데이터에 따라 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LED 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켜고 끄기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78660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7155" l="5333" r="89091" t="427"/>
                    </a14:imgEffect>
                  </a14:imgLayer>
                </a14:imgProps>
              </a:ext>
            </a:extLst>
          </a:blip>
          <a:srcRect b="3802" l="10724" r="11217" t="1986"/>
          <a:stretch/>
        </p:blipFill>
        <p:spPr>
          <a:xfrm>
            <a:off x="116981" y="1157877"/>
            <a:ext cx="4730620" cy="486523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220191" y="176823"/>
            <a:ext cx="1816299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numCol="1" wrap="square">
            <a:spAutoFit/>
          </a:bodyPr>
          <a:lstStyle/>
          <a:p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setup(){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mtClean="0" sz="1200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altLang="ko-KR" dirty="0" lang="en-US" smtClean="0" sz="1200">
                <a:solidFill>
                  <a:schemeClr val="bg1">
                    <a:lumMod val="50000"/>
                  </a:schemeClr>
                </a:solidFill>
              </a:rPr>
              <a:t>(9600);</a:t>
            </a:r>
          </a:p>
          <a:p>
            <a:r>
              <a:rPr altLang="ko-KR" dirty="0" lang="en-US" smtClean="0" sz="1200">
                <a:solidFill>
                  <a:schemeClr val="bg1">
                    <a:lumMod val="50000"/>
                  </a:schemeClr>
                </a:solidFill>
              </a:rPr>
              <a:t>}</a:t>
            </a:r>
            <a:endParaRPr dirty="0" lang="ko-KR" smtClean="0" sz="1200">
              <a:solidFill>
                <a:schemeClr val="bg1">
                  <a:lumMod val="50000"/>
                </a:schemeClr>
              </a:solidFill>
            </a:endParaRPr>
          </a:p>
          <a:p>
            <a:endParaRPr dirty="0" lang="ko-KR" smtClean="0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loop() {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mtClean="0" sz="1200">
                <a:solidFill>
                  <a:schemeClr val="bg1">
                    <a:lumMod val="50000"/>
                  </a:schemeClr>
                </a:solidFill>
              </a:rPr>
              <a:t>Serial.println</a:t>
            </a:r>
            <a:r>
              <a:rPr altLang="ko-KR" dirty="0" lang="en-US" smtClean="0" sz="1200">
                <a:solidFill>
                  <a:schemeClr val="bg1">
                    <a:lumMod val="50000"/>
                  </a:schemeClr>
                </a:solidFill>
              </a:rPr>
              <a:t>(“Hello”);</a:t>
            </a:r>
            <a:endParaRPr dirty="0" lang="ko-KR" smtClean="0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delay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(1000);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}</a:t>
            </a:r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33065" y="1252572"/>
            <a:ext cx="3187899" cy="47705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altLang="ko-KR" dirty="0" lang="en-US" smtClean="0" sz="1600"/>
              <a:t>void setup(){</a:t>
            </a:r>
          </a:p>
          <a:p>
            <a:r>
              <a:rPr altLang="ko-KR" dirty="0" lang="en-US" smtClean="0" sz="1600"/>
              <a:t>  </a:t>
            </a:r>
            <a:r>
              <a:rPr altLang="ko-KR" dirty="0" err="1" lang="en-US" smtClean="0" sz="1600"/>
              <a:t>Serial.begin</a:t>
            </a:r>
            <a:r>
              <a:rPr altLang="ko-KR" dirty="0" lang="en-US" smtClean="0" sz="1600"/>
              <a:t>(9600);</a:t>
            </a:r>
          </a:p>
          <a:p>
            <a:r>
              <a:rPr altLang="ko-KR" dirty="0" lang="en-US" smtClean="0" sz="1600"/>
              <a:t>  </a:t>
            </a:r>
            <a:r>
              <a:rPr altLang="ko-KR" dirty="0" err="1" lang="en-US" smtClean="0" sz="1600"/>
              <a:t>pinMode</a:t>
            </a:r>
            <a:r>
              <a:rPr altLang="ko-KR" dirty="0" lang="en-US" smtClean="0" sz="1600"/>
              <a:t>(7, OUTPUT);</a:t>
            </a:r>
          </a:p>
          <a:p>
            <a:r>
              <a:rPr altLang="ko-KR" dirty="0" lang="en-US" smtClean="0" sz="1600"/>
              <a:t>}</a:t>
            </a:r>
          </a:p>
          <a:p>
            <a:endParaRPr altLang="ko-KR" dirty="0" lang="en-US" smtClean="0" sz="1600"/>
          </a:p>
          <a:p>
            <a:r>
              <a:rPr altLang="ko-KR" dirty="0" lang="en-US" smtClean="0" sz="1600"/>
              <a:t>void loop() {</a:t>
            </a:r>
          </a:p>
          <a:p>
            <a:r>
              <a:rPr altLang="ko-KR" dirty="0" lang="en-US" smtClean="0" sz="1600"/>
              <a:t>  if( </a:t>
            </a:r>
            <a:r>
              <a:rPr altLang="ko-KR" dirty="0" err="1" lang="en-US" smtClean="0" sz="1600"/>
              <a:t>Serial.available</a:t>
            </a:r>
            <a:r>
              <a:rPr altLang="ko-KR" dirty="0" lang="en-US" smtClean="0" sz="1600"/>
              <a:t>() &gt; 0)</a:t>
            </a:r>
          </a:p>
          <a:p>
            <a:r>
              <a:rPr altLang="ko-KR" dirty="0" lang="en-US" smtClean="0" sz="1600"/>
              <a:t>  {</a:t>
            </a:r>
          </a:p>
          <a:p>
            <a:r>
              <a:rPr altLang="ko-KR" dirty="0" lang="en-US" smtClean="0" sz="1600"/>
              <a:t>     char </a:t>
            </a:r>
            <a:r>
              <a:rPr altLang="ko-KR" dirty="0" err="1" lang="en-US" smtClean="0" sz="1600"/>
              <a:t>sData</a:t>
            </a:r>
            <a:r>
              <a:rPr altLang="ko-KR" dirty="0" lang="en-US" smtClean="0" sz="1600"/>
              <a:t> = </a:t>
            </a:r>
            <a:r>
              <a:rPr altLang="ko-KR" dirty="0" err="1" lang="en-US" smtClean="0" sz="1600"/>
              <a:t>Serial.read</a:t>
            </a:r>
            <a:r>
              <a:rPr altLang="ko-KR" dirty="0" lang="en-US" smtClean="0" sz="1600"/>
              <a:t>();</a:t>
            </a:r>
          </a:p>
          <a:p>
            <a:r>
              <a:rPr altLang="ko-KR" dirty="0" lang="en-US" smtClean="0" sz="1600"/>
              <a:t>     if(</a:t>
            </a:r>
            <a:r>
              <a:rPr altLang="ko-KR" dirty="0" err="1" lang="en-US" smtClean="0" sz="1600"/>
              <a:t>sData</a:t>
            </a:r>
            <a:r>
              <a:rPr altLang="ko-KR" dirty="0" lang="en-US" smtClean="0" sz="1600"/>
              <a:t> == 'a')</a:t>
            </a:r>
          </a:p>
          <a:p>
            <a:r>
              <a:rPr altLang="ko-KR" dirty="0" lang="en-US" smtClean="0" sz="1600"/>
              <a:t>     {</a:t>
            </a:r>
          </a:p>
          <a:p>
            <a:r>
              <a:rPr altLang="ko-KR" dirty="0" lang="en-US" smtClean="0" sz="1600"/>
              <a:t>       </a:t>
            </a:r>
            <a:r>
              <a:rPr altLang="ko-KR" dirty="0" err="1" lang="en-US" smtClean="0" sz="1600"/>
              <a:t>digitalWrite</a:t>
            </a:r>
            <a:r>
              <a:rPr altLang="ko-KR" dirty="0" lang="en-US" smtClean="0" sz="1600"/>
              <a:t>(7, HIGH);</a:t>
            </a:r>
          </a:p>
          <a:p>
            <a:r>
              <a:rPr altLang="ko-KR" dirty="0" lang="en-US" smtClean="0" sz="1600"/>
              <a:t>     }</a:t>
            </a:r>
          </a:p>
          <a:p>
            <a:r>
              <a:rPr altLang="ko-KR" dirty="0" lang="en-US" smtClean="0" sz="1600"/>
              <a:t>     else if(</a:t>
            </a:r>
            <a:r>
              <a:rPr altLang="ko-KR" dirty="0" err="1" lang="en-US" smtClean="0" sz="1600"/>
              <a:t>sData</a:t>
            </a:r>
            <a:r>
              <a:rPr altLang="ko-KR" dirty="0" lang="en-US" smtClean="0" sz="1600"/>
              <a:t> == 'b')</a:t>
            </a:r>
          </a:p>
          <a:p>
            <a:r>
              <a:rPr altLang="ko-KR" dirty="0" lang="en-US" smtClean="0" sz="1600"/>
              <a:t>     {</a:t>
            </a:r>
          </a:p>
          <a:p>
            <a:r>
              <a:rPr altLang="ko-KR" dirty="0" lang="en-US" smtClean="0" sz="1600"/>
              <a:t>       </a:t>
            </a:r>
            <a:r>
              <a:rPr altLang="ko-KR" dirty="0" err="1" lang="en-US" smtClean="0" sz="1600"/>
              <a:t>digitalWrite</a:t>
            </a:r>
            <a:r>
              <a:rPr altLang="ko-KR" dirty="0" lang="en-US" smtClean="0" sz="1600"/>
              <a:t>(7, LOW);</a:t>
            </a:r>
          </a:p>
          <a:p>
            <a:r>
              <a:rPr altLang="ko-KR" dirty="0" lang="en-US" smtClean="0" sz="1600"/>
              <a:t>     }</a:t>
            </a:r>
          </a:p>
          <a:p>
            <a:r>
              <a:rPr altLang="ko-KR" dirty="0" lang="en-US" sz="1600"/>
              <a:t> </a:t>
            </a:r>
            <a:r>
              <a:rPr altLang="ko-KR" dirty="0" lang="en-US" smtClean="0" sz="1600"/>
              <a:t> }</a:t>
            </a:r>
          </a:p>
          <a:p>
            <a:r>
              <a:rPr altLang="ko-KR" dirty="0" lang="en-US" smtClean="0" sz="1600"/>
              <a:t>}</a:t>
            </a:r>
            <a:endParaRPr dirty="0" lang="ko-KR" sz="1600"/>
          </a:p>
        </p:txBody>
      </p:sp>
      <p:sp>
        <p:nvSpPr>
          <p:cNvPr id="4" name="직사각형 3">
            <a:hlinkClick r:id="rId4"/>
          </p:cNvPr>
          <p:cNvSpPr/>
          <p:nvPr/>
        </p:nvSpPr>
        <p:spPr>
          <a:xfrm>
            <a:off x="8384903" y="1960135"/>
            <a:ext cx="1587771" cy="369332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/>
              <a:t>저항(</a:t>
            </a:r>
            <a:r>
              <a:rPr dirty="0" err="1" lang="ko-KR"/>
              <a:t>Resistor</a:t>
            </a:r>
            <a:r>
              <a:rPr dirty="0" lang="ko-KR"/>
              <a:t>)</a:t>
            </a:r>
          </a:p>
        </p:txBody>
      </p:sp>
      <p:sp>
        <p:nvSpPr>
          <p:cNvPr id="8" name="직사각형 7">
            <a:hlinkClick r:id="rId5"/>
          </p:cNvPr>
          <p:cNvSpPr/>
          <p:nvPr/>
        </p:nvSpPr>
        <p:spPr>
          <a:xfrm>
            <a:off x="8406428" y="2415075"/>
            <a:ext cx="3442672" cy="523220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물체에 전류가 흐를 때 이 전류의 흐름을 방해하는 요소</a:t>
            </a:r>
            <a:endParaRPr dirty="0" lang="ko-KR" sz="1400"/>
          </a:p>
        </p:txBody>
      </p:sp>
      <p:sp>
        <p:nvSpPr>
          <p:cNvPr id="9" name="직사각형 8"/>
          <p:cNvSpPr/>
          <p:nvPr/>
        </p:nvSpPr>
        <p:spPr>
          <a:xfrm>
            <a:off x="8384903" y="3151947"/>
            <a:ext cx="1587771" cy="369332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altLang="ko-KR" dirty="0" lang="en-US" smtClean="0"/>
              <a:t>Serial</a:t>
            </a:r>
            <a:endParaRPr dirty="0" lang="ko-KR"/>
          </a:p>
        </p:txBody>
      </p:sp>
      <p:sp>
        <p:nvSpPr>
          <p:cNvPr id="10" name="직사각형 9">
            <a:hlinkClick r:id="rId6"/>
          </p:cNvPr>
          <p:cNvSpPr/>
          <p:nvPr/>
        </p:nvSpPr>
        <p:spPr>
          <a:xfrm>
            <a:off x="8406428" y="3606887"/>
            <a:ext cx="3442672" cy="523220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다른 </a:t>
            </a:r>
            <a:r>
              <a:rPr dirty="0" err="1" lang="ko-KR" smtClean="0" sz="1400"/>
              <a:t>아두이노</a:t>
            </a:r>
            <a:r>
              <a:rPr dirty="0" lang="ko-KR" smtClean="0" sz="1400"/>
              <a:t> 보드와 컴퓨터 혹은 다른 장치와 통신을 하기 위해 사용</a:t>
            </a:r>
            <a:endParaRPr dirty="0" lang="ko-KR" sz="1400"/>
          </a:p>
        </p:txBody>
      </p:sp>
      <p:sp>
        <p:nvSpPr>
          <p:cNvPr id="11" name="직사각형 10"/>
          <p:cNvSpPr/>
          <p:nvPr/>
        </p:nvSpPr>
        <p:spPr>
          <a:xfrm>
            <a:off x="8384903" y="4343759"/>
            <a:ext cx="1587771" cy="369332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altLang="ko-KR" dirty="0" err="1" lang="en-US" smtClean="0"/>
              <a:t>Serial.begin</a:t>
            </a:r>
            <a:r>
              <a:rPr altLang="ko-KR" dirty="0" lang="en-US" smtClean="0"/>
              <a:t>()</a:t>
            </a:r>
            <a:endParaRPr dirty="0" lang="ko-KR"/>
          </a:p>
        </p:txBody>
      </p:sp>
      <p:sp>
        <p:nvSpPr>
          <p:cNvPr id="12" name="직사각형 11">
            <a:hlinkClick r:id="rId7"/>
          </p:cNvPr>
          <p:cNvSpPr/>
          <p:nvPr/>
        </p:nvSpPr>
        <p:spPr>
          <a:xfrm>
            <a:off x="8406428" y="4798699"/>
            <a:ext cx="3442672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시리얼 통신을 위한 </a:t>
            </a:r>
            <a:r>
              <a:rPr altLang="ko-KR" dirty="0" lang="en-US" smtClean="0" sz="1400"/>
              <a:t>baud </a:t>
            </a:r>
            <a:r>
              <a:rPr dirty="0" lang="ko-KR" smtClean="0" sz="1400"/>
              <a:t>설정</a:t>
            </a:r>
            <a:endParaRPr dirty="0" lang="ko-KR" sz="1400"/>
          </a:p>
        </p:txBody>
      </p:sp>
      <p:sp>
        <p:nvSpPr>
          <p:cNvPr id="13" name="직사각형 12"/>
          <p:cNvSpPr/>
          <p:nvPr/>
        </p:nvSpPr>
        <p:spPr>
          <a:xfrm>
            <a:off x="8384903" y="5320128"/>
            <a:ext cx="1587771" cy="369332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altLang="ko-KR" dirty="0" err="1" lang="en-US" smtClean="0"/>
              <a:t>Serial.read</a:t>
            </a:r>
            <a:r>
              <a:rPr altLang="ko-KR" dirty="0" lang="en-US" smtClean="0"/>
              <a:t>()</a:t>
            </a:r>
            <a:endParaRPr dirty="0" lang="ko-KR"/>
          </a:p>
        </p:txBody>
      </p:sp>
      <p:sp>
        <p:nvSpPr>
          <p:cNvPr id="14" name="직사각형 13">
            <a:hlinkClick r:id="rId8"/>
          </p:cNvPr>
          <p:cNvSpPr/>
          <p:nvPr/>
        </p:nvSpPr>
        <p:spPr>
          <a:xfrm>
            <a:off x="8406428" y="5775068"/>
            <a:ext cx="3442672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입력된 시리얼 데이터 읽기</a:t>
            </a:r>
            <a:endParaRPr dirty="0" lang="ko-KR" sz="1400"/>
          </a:p>
        </p:txBody>
      </p:sp>
    </p:spTree>
    <p:extLst>
      <p:ext uri="{BB962C8B-B14F-4D97-AF65-F5344CB8AC3E}">
        <p14:creationId xmlns:p14="http://schemas.microsoft.com/office/powerpoint/2010/main" val="1867118825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4185761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위험을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알리는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경광등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10546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7980" l="3353" r="97668" t="216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2775" y="1140587"/>
            <a:ext cx="5202549" cy="525563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484327" y="1637362"/>
            <a:ext cx="2466392" cy="46166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#</a:t>
            </a:r>
            <a:r>
              <a:rPr dirty="0" err="1" lang="ko-KR" smtClean="0" sz="1400"/>
              <a:t>define</a:t>
            </a:r>
            <a:r>
              <a:rPr dirty="0" lang="ko-KR" smtClean="0" sz="1400"/>
              <a:t> LED1 9</a:t>
            </a:r>
          </a:p>
          <a:p>
            <a:r>
              <a:rPr dirty="0" lang="ko-KR" smtClean="0" sz="1400"/>
              <a:t>#</a:t>
            </a:r>
            <a:r>
              <a:rPr dirty="0" err="1" lang="ko-KR" smtClean="0" sz="1400"/>
              <a:t>define</a:t>
            </a:r>
            <a:r>
              <a:rPr dirty="0" lang="ko-KR" smtClean="0" sz="1400"/>
              <a:t> LED2 8</a:t>
            </a:r>
          </a:p>
          <a:p>
            <a:r>
              <a:rPr dirty="0" lang="ko-KR" smtClean="0" sz="1400"/>
              <a:t>#</a:t>
            </a:r>
            <a:r>
              <a:rPr dirty="0" err="1" lang="ko-KR" smtClean="0" sz="1400"/>
              <a:t>define</a:t>
            </a:r>
            <a:r>
              <a:rPr dirty="0" lang="ko-KR" smtClean="0" sz="1400"/>
              <a:t> LED3 7</a:t>
            </a:r>
          </a:p>
          <a:p>
            <a:endParaRPr dirty="0" lang="ko-KR" smtClean="0" sz="1400"/>
          </a:p>
          <a:p>
            <a:endParaRPr dirty="0" lang="ko-KR" smtClean="0" sz="1400"/>
          </a:p>
          <a:p>
            <a:r>
              <a:rPr dirty="0" err="1" lang="ko-KR" smtClean="0" sz="1400"/>
              <a:t>void</a:t>
            </a:r>
            <a:r>
              <a:rPr dirty="0" lang="ko-KR" smtClean="0" sz="1400"/>
              <a:t> setup(){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pinMode</a:t>
            </a:r>
            <a:r>
              <a:rPr dirty="0" lang="ko-KR" smtClean="0" sz="1400"/>
              <a:t>(LED1, OUTPUT);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pinMode</a:t>
            </a:r>
            <a:r>
              <a:rPr dirty="0" lang="ko-KR" smtClean="0" sz="1400"/>
              <a:t>(LED2, OUTPUT);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pinMode</a:t>
            </a:r>
            <a:r>
              <a:rPr dirty="0" lang="ko-KR" smtClean="0" sz="1400"/>
              <a:t>(LED3, OUTPUT);</a:t>
            </a:r>
          </a:p>
          <a:p>
            <a:r>
              <a:rPr dirty="0" lang="ko-KR" smtClean="0" sz="1400"/>
              <a:t>}</a:t>
            </a:r>
          </a:p>
          <a:p>
            <a:endParaRPr dirty="0" lang="ko-KR" smtClean="0" sz="1400"/>
          </a:p>
          <a:p>
            <a:r>
              <a:rPr dirty="0" err="1" lang="ko-KR" smtClean="0" sz="1400"/>
              <a:t>void</a:t>
            </a:r>
            <a:r>
              <a:rPr dirty="0" lang="ko-KR" smtClean="0" sz="1400"/>
              <a:t> loop() {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(LED1, HIGH);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(LED2, HIGH);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(LED3, HIGH);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delay</a:t>
            </a:r>
            <a:r>
              <a:rPr dirty="0" lang="ko-KR" smtClean="0" sz="1400"/>
              <a:t>(1000);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(LED1, LOW);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(LED2, LOW);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(LED3, LOW);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delay</a:t>
            </a:r>
            <a:r>
              <a:rPr dirty="0" lang="ko-KR" smtClean="0" sz="1400"/>
              <a:t>(1000);</a:t>
            </a:r>
          </a:p>
          <a:p>
            <a:r>
              <a:rPr dirty="0" lang="ko-KR" smtClean="0" sz="1400"/>
              <a:t>}</a:t>
            </a:r>
            <a:endParaRPr dirty="0" lang="ko-KR" sz="1400"/>
          </a:p>
        </p:txBody>
      </p:sp>
      <p:pic>
        <p:nvPicPr>
          <p:cNvPr descr="LED 경광봉 안전봉" id="2050" name="Picture 2"/>
          <p:cNvPicPr>
            <a:picLocks noChangeArrowheads="1" noChangeAspect="1"/>
          </p:cNvPicPr>
          <p:nvPr/>
        </p:nvPicPr>
        <p:blipFill>
          <a:blip cstate="print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625" y="922410"/>
            <a:ext cx="1602199" cy="160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62662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4801314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경찰차에 표시하는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경광등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76794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7472" l="7644" r="97118" t="280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69844" y="1172573"/>
            <a:ext cx="5589372" cy="4987009"/>
          </a:xfrm>
          <a:prstGeom prst="rect">
            <a:avLst/>
          </a:prstGeom>
        </p:spPr>
      </p:pic>
      <p:pic>
        <p:nvPicPr>
          <p:cNvPr descr="경찰 경광봉 - 검색결과 | 쇼핑하우" id="3074" name="Picture 2"/>
          <p:cNvPicPr>
            <a:picLocks noChangeArrowheads="1" noChangeAspect="1"/>
          </p:cNvPicPr>
          <p:nvPr/>
        </p:nvPicPr>
        <p:blipFill>
          <a:blip cstate="print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211" y="923730"/>
            <a:ext cx="1832688" cy="18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8049207" y="2282457"/>
            <a:ext cx="2923592" cy="37548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#</a:t>
            </a:r>
            <a:r>
              <a:rPr dirty="0" err="1" lang="ko-KR" smtClean="0" sz="1400"/>
              <a:t>define</a:t>
            </a:r>
            <a:r>
              <a:rPr dirty="0" lang="ko-KR" smtClean="0" sz="1400"/>
              <a:t> LED_BLUE 8</a:t>
            </a:r>
          </a:p>
          <a:p>
            <a:r>
              <a:rPr dirty="0" lang="ko-KR" smtClean="0" sz="1400"/>
              <a:t>#</a:t>
            </a:r>
            <a:r>
              <a:rPr dirty="0" err="1" lang="ko-KR" smtClean="0" sz="1400"/>
              <a:t>define</a:t>
            </a:r>
            <a:r>
              <a:rPr dirty="0" lang="ko-KR" smtClean="0" sz="1400"/>
              <a:t> LED_RED 7</a:t>
            </a:r>
          </a:p>
          <a:p>
            <a:r>
              <a:rPr dirty="0" lang="ko-KR" smtClean="0" sz="1400"/>
              <a:t>#</a:t>
            </a:r>
            <a:r>
              <a:rPr dirty="0" err="1" lang="ko-KR" smtClean="0" sz="1400"/>
              <a:t>define</a:t>
            </a:r>
            <a:r>
              <a:rPr dirty="0" lang="ko-KR" smtClean="0" sz="1400"/>
              <a:t> DELAY_TIME 80</a:t>
            </a:r>
          </a:p>
          <a:p>
            <a:endParaRPr dirty="0" lang="ko-KR" smtClean="0" sz="1400"/>
          </a:p>
          <a:p>
            <a:r>
              <a:rPr dirty="0" err="1" lang="ko-KR" smtClean="0" sz="1400"/>
              <a:t>void</a:t>
            </a:r>
            <a:r>
              <a:rPr dirty="0" lang="ko-KR" smtClean="0" sz="1400"/>
              <a:t> setup(){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pinMode</a:t>
            </a:r>
            <a:r>
              <a:rPr dirty="0" lang="ko-KR" smtClean="0" sz="1400"/>
              <a:t>(LED_BLUE, OUTPUT);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pinMode</a:t>
            </a:r>
            <a:r>
              <a:rPr dirty="0" lang="ko-KR" smtClean="0" sz="1400"/>
              <a:t>(LED_RED, OUTPUT);</a:t>
            </a:r>
          </a:p>
          <a:p>
            <a:r>
              <a:rPr dirty="0" lang="ko-KR" smtClean="0" sz="1400"/>
              <a:t>}</a:t>
            </a:r>
          </a:p>
          <a:p>
            <a:endParaRPr dirty="0" lang="ko-KR" smtClean="0" sz="1400"/>
          </a:p>
          <a:p>
            <a:r>
              <a:rPr dirty="0" err="1" lang="ko-KR" smtClean="0" sz="1400"/>
              <a:t>void</a:t>
            </a:r>
            <a:r>
              <a:rPr dirty="0" lang="ko-KR" smtClean="0" sz="1400"/>
              <a:t> loop() {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(LED_BLUE, HIGH);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(LED_RED, LOW);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delay</a:t>
            </a:r>
            <a:r>
              <a:rPr dirty="0" lang="ko-KR" smtClean="0" sz="1400"/>
              <a:t>(DELAY_TIME);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(LED_RED, HIGH);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digitalWrite</a:t>
            </a:r>
            <a:r>
              <a:rPr dirty="0" lang="ko-KR" smtClean="0" sz="1400"/>
              <a:t>(LED_BLUE, LOW);</a:t>
            </a:r>
          </a:p>
          <a:p>
            <a:r>
              <a:rPr dirty="0" lang="ko-KR" smtClean="0" sz="1400"/>
              <a:t>  </a:t>
            </a:r>
            <a:r>
              <a:rPr dirty="0" err="1" lang="ko-KR" smtClean="0" sz="1400"/>
              <a:t>delay</a:t>
            </a:r>
            <a:r>
              <a:rPr dirty="0" lang="ko-KR" smtClean="0" sz="1400"/>
              <a:t>(DELAY_TIME);</a:t>
            </a:r>
          </a:p>
          <a:p>
            <a:r>
              <a:rPr dirty="0" lang="ko-KR" smtClean="0" sz="1400"/>
              <a:t>}</a:t>
            </a:r>
            <a:endParaRPr dirty="0" lang="ko-KR" sz="1400"/>
          </a:p>
        </p:txBody>
      </p:sp>
    </p:spTree>
    <p:extLst>
      <p:ext uri="{BB962C8B-B14F-4D97-AF65-F5344CB8AC3E}">
        <p14:creationId xmlns:p14="http://schemas.microsoft.com/office/powerpoint/2010/main" val="2901795131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4801314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경찰차에 표시하는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경광등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76794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003" l="5897" r="97666" t="270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3632" y="1206250"/>
            <a:ext cx="5698732" cy="4914632"/>
          </a:xfrm>
          <a:prstGeom prst="rect">
            <a:avLst/>
          </a:prstGeom>
        </p:spPr>
      </p:pic>
      <p:pic>
        <p:nvPicPr>
          <p:cNvPr descr="경찰 경광봉 - 검색결과 | 쇼핑하우" id="5" name="Picture 2"/>
          <p:cNvPicPr>
            <a:picLocks noChangeArrowheads="1" noChangeAspect="1"/>
          </p:cNvPicPr>
          <p:nvPr/>
        </p:nvPicPr>
        <p:blipFill>
          <a:blip cstate="print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211" y="923730"/>
            <a:ext cx="1832688" cy="18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8058619" y="3108723"/>
            <a:ext cx="3035480" cy="249299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define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BUTTON 4</a:t>
            </a:r>
          </a:p>
          <a:p>
            <a:endParaRPr dirty="0" lang="ko-KR" smtClean="0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setup() {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(9600);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pinMode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(BUTTON, INPUT_PULLUP);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  <a:p>
            <a:endParaRPr dirty="0" lang="ko-KR" smtClean="0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loop() {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buttonValue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=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digitalRead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(BUTTON);</a:t>
            </a:r>
          </a:p>
          <a:p>
            <a:endParaRPr dirty="0" lang="ko-KR" smtClean="0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Serial.println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buttonValue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mtClean="0" sz="1200">
                <a:solidFill>
                  <a:schemeClr val="bg1">
                    <a:lumMod val="50000"/>
                  </a:schemeClr>
                </a:solidFill>
              </a:rPr>
              <a:t>delay</a:t>
            </a:r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(100);</a:t>
            </a:r>
          </a:p>
          <a:p>
            <a:r>
              <a:rPr dirty="0" lang="ko-KR" smtClean="0" sz="1200">
                <a:solidFill>
                  <a:schemeClr val="bg1">
                    <a:lumMod val="50000"/>
                  </a:schemeClr>
                </a:solidFill>
              </a:rPr>
              <a:t>}</a:t>
            </a:r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hlinkClick r:id="rId5"/>
          </p:cNvPr>
          <p:cNvSpPr/>
          <p:nvPr/>
        </p:nvSpPr>
        <p:spPr>
          <a:xfrm>
            <a:off x="8010064" y="1021584"/>
            <a:ext cx="3132589" cy="369332"/>
          </a:xfrm>
          <a:prstGeom prst="rect">
            <a:avLst/>
          </a:prstGeom>
        </p:spPr>
        <p:txBody>
          <a:bodyPr numCol="1" wrap="none">
            <a:spAutoFit/>
          </a:bodyPr>
          <a:lstStyle/>
          <a:p>
            <a:r>
              <a:rPr dirty="0" err="1" lang="ko-KR"/>
              <a:t>푸시버튼으로</a:t>
            </a:r>
            <a:r>
              <a:rPr dirty="0" lang="ko-KR"/>
              <a:t> LED 켜고 끄기</a:t>
            </a:r>
          </a:p>
        </p:txBody>
      </p:sp>
    </p:spTree>
    <p:extLst>
      <p:ext uri="{BB962C8B-B14F-4D97-AF65-F5344CB8AC3E}">
        <p14:creationId xmlns:p14="http://schemas.microsoft.com/office/powerpoint/2010/main" val="915068129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4801314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경찰차에 표시하는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경광등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76794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003" l="5897" r="97666" t="270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986" y="991646"/>
            <a:ext cx="5698732" cy="4914632"/>
          </a:xfrm>
          <a:prstGeom prst="rect">
            <a:avLst/>
          </a:prstGeom>
        </p:spPr>
      </p:pic>
      <p:pic>
        <p:nvPicPr>
          <p:cNvPr descr="경찰 경광봉 - 검색결과 | 쇼핑하우" id="5" name="Picture 2"/>
          <p:cNvPicPr>
            <a:picLocks noChangeArrowheads="1" noChangeAspect="1"/>
          </p:cNvPicPr>
          <p:nvPr/>
        </p:nvPicPr>
        <p:blipFill>
          <a:blip cstate="print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211" y="923730"/>
            <a:ext cx="1832688" cy="18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724343" y="1224316"/>
            <a:ext cx="2928721" cy="2492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BUTTON 4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LED_BLUE 8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LED_RED 7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DELAY_TIME 80</a:t>
            </a:r>
          </a:p>
          <a:p>
            <a:endParaRPr dirty="0" lang="ko-KR" smtClean="0" sz="1200"/>
          </a:p>
          <a:p>
            <a:r>
              <a:rPr dirty="0" err="1" lang="ko-KR" smtClean="0" sz="1200"/>
              <a:t>int</a:t>
            </a:r>
            <a:r>
              <a:rPr dirty="0" lang="ko-KR" smtClean="0" sz="1200"/>
              <a:t> </a:t>
            </a:r>
            <a:r>
              <a:rPr dirty="0" err="1" lang="ko-KR" smtClean="0" sz="1200"/>
              <a:t>state</a:t>
            </a:r>
            <a:r>
              <a:rPr dirty="0" lang="ko-KR" smtClean="0" sz="1200"/>
              <a:t> = 0;</a:t>
            </a:r>
          </a:p>
          <a:p>
            <a:endParaRPr dirty="0" lang="ko-KR" smtClean="0" sz="1200"/>
          </a:p>
          <a:p>
            <a:r>
              <a:rPr dirty="0" err="1" lang="ko-KR" smtClean="0" sz="1200"/>
              <a:t>void</a:t>
            </a:r>
            <a:r>
              <a:rPr dirty="0" lang="ko-KR" smtClean="0" sz="1200"/>
              <a:t> setup() {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Serial.begin</a:t>
            </a:r>
            <a:r>
              <a:rPr dirty="0" lang="ko-KR" smtClean="0" sz="1200"/>
              <a:t>(9600);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(BUTTON, INPUT_PULLUP);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(LED_BLUE, OUTPUT);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(LED_RED, OUTPUT);</a:t>
            </a:r>
          </a:p>
          <a:p>
            <a:r>
              <a:rPr dirty="0" lang="ko-KR" smtClean="0" sz="1200"/>
              <a:t>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783216" y="1224316"/>
            <a:ext cx="3085324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err="1" lang="ko-KR" sz="1200"/>
              <a:t>void</a:t>
            </a:r>
            <a:r>
              <a:rPr dirty="0" lang="ko-KR" sz="1200"/>
              <a:t> loop()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buttonValue</a:t>
            </a:r>
            <a:r>
              <a:rPr dirty="0" lang="ko-KR" sz="1200"/>
              <a:t> = !</a:t>
            </a:r>
            <a:r>
              <a:rPr dirty="0" err="1" lang="ko-KR" sz="1200"/>
              <a:t>digitalRead</a:t>
            </a:r>
            <a:r>
              <a:rPr dirty="0" lang="ko-KR" sz="1200"/>
              <a:t>(BUTTON);</a:t>
            </a:r>
          </a:p>
          <a:p>
            <a:r>
              <a:rPr dirty="0" lang="ko-KR" sz="1200"/>
              <a:t>  </a:t>
            </a:r>
          </a:p>
          <a:p>
            <a:r>
              <a:rPr dirty="0" lang="ko-KR" sz="1200"/>
              <a:t>  if(</a:t>
            </a:r>
            <a:r>
              <a:rPr dirty="0" err="1" lang="ko-KR" sz="1200"/>
              <a:t>buttonValue</a:t>
            </a:r>
            <a:r>
              <a:rPr dirty="0" lang="ko-KR" sz="1200"/>
              <a:t> == 1) {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state</a:t>
            </a:r>
            <a:r>
              <a:rPr dirty="0" lang="ko-KR" sz="1200"/>
              <a:t> = !</a:t>
            </a:r>
            <a:r>
              <a:rPr dirty="0" err="1" lang="ko-KR" sz="1200"/>
              <a:t>state</a:t>
            </a:r>
            <a:r>
              <a:rPr dirty="0" lang="ko-KR" sz="1200"/>
              <a:t>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  </a:t>
            </a:r>
          </a:p>
          <a:p>
            <a:r>
              <a:rPr dirty="0" lang="ko-KR" sz="1200"/>
              <a:t>  if(</a:t>
            </a:r>
            <a:r>
              <a:rPr dirty="0" err="1" lang="ko-KR" sz="1200"/>
              <a:t>state</a:t>
            </a:r>
            <a:r>
              <a:rPr dirty="0" lang="ko-KR" sz="1200"/>
              <a:t> == 0){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digitalWrite</a:t>
            </a:r>
            <a:r>
              <a:rPr dirty="0" lang="ko-KR" sz="1200"/>
              <a:t>(LED_BLUE, HIGH);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digitalWrite</a:t>
            </a:r>
            <a:r>
              <a:rPr dirty="0" lang="ko-KR" sz="1200"/>
              <a:t>(LED_RED, LOW);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delay</a:t>
            </a:r>
            <a:r>
              <a:rPr dirty="0" lang="ko-KR" sz="1200"/>
              <a:t>(DELAY_TIME);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digitalWrite</a:t>
            </a:r>
            <a:r>
              <a:rPr dirty="0" lang="ko-KR" sz="1200"/>
              <a:t>(LED_RED, HIGH);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digitalWrite</a:t>
            </a:r>
            <a:r>
              <a:rPr dirty="0" lang="ko-KR" sz="1200"/>
              <a:t>(LED_BLUE, LOW);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delay</a:t>
            </a:r>
            <a:r>
              <a:rPr dirty="0" lang="ko-KR" sz="1200"/>
              <a:t>(DELAY_TIME);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state</a:t>
            </a:r>
            <a:r>
              <a:rPr dirty="0" lang="ko-KR" sz="1200"/>
              <a:t> == 1) {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digitalWrite</a:t>
            </a:r>
            <a:r>
              <a:rPr dirty="0" lang="ko-KR" sz="1200"/>
              <a:t>(LED_BLUE, LOW);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digitalWrite</a:t>
            </a:r>
            <a:r>
              <a:rPr dirty="0" lang="ko-KR" sz="1200"/>
              <a:t>(LED_RED, LOW);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6048791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3724096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LED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를 이용한 신호등 구현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3780082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5399314" y="1087877"/>
            <a:ext cx="3352800" cy="489364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CAR_LED_RED 9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CAR_LED_YELLOW 8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CAR_LED_GREEN 7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HUMAN_LED_RED 3</a:t>
            </a:r>
          </a:p>
          <a:p>
            <a:r>
              <a:rPr dirty="0" lang="ko-KR" smtClean="0" sz="1200"/>
              <a:t>#</a:t>
            </a:r>
            <a:r>
              <a:rPr dirty="0" err="1" lang="ko-KR" smtClean="0" sz="1200"/>
              <a:t>define</a:t>
            </a:r>
            <a:r>
              <a:rPr dirty="0" lang="ko-KR" smtClean="0" sz="1200"/>
              <a:t> HUMAN_LED_GREEN 2</a:t>
            </a:r>
          </a:p>
          <a:p>
            <a:endParaRPr dirty="0" lang="ko-KR" smtClean="0" sz="1200"/>
          </a:p>
          <a:p>
            <a:r>
              <a:rPr dirty="0" err="1" lang="ko-KR" smtClean="0" sz="1200"/>
              <a:t>void</a:t>
            </a:r>
            <a:r>
              <a:rPr dirty="0" lang="ko-KR" smtClean="0" sz="1200"/>
              <a:t> setup() {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(CAR_LED_RED, OUTPUT);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(CAR_LED_YELLOW, OUTPUT);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(CAR_LED_GREEN, OUTPUT);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(HUMAN_LED_RED, OUTPUT);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pinMode</a:t>
            </a:r>
            <a:r>
              <a:rPr dirty="0" lang="ko-KR" smtClean="0" sz="1200"/>
              <a:t>(HUMAN_LED_GREEN, OUTPUT);</a:t>
            </a:r>
          </a:p>
          <a:p>
            <a:r>
              <a:rPr dirty="0" lang="ko-KR" smtClean="0" sz="1200"/>
              <a:t>}</a:t>
            </a:r>
          </a:p>
          <a:p>
            <a:r>
              <a:rPr dirty="0" err="1" lang="ko-KR" smtClean="0" sz="1200"/>
              <a:t>void</a:t>
            </a:r>
            <a:r>
              <a:rPr dirty="0" lang="ko-KR" smtClean="0" sz="1200"/>
              <a:t> loop() {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(CAR_LED_RED, LOW);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(CAR_LED_YELLOW, LOW);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(CAR_LED_GREEN, HIGH);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(HUMAN_LED_RED, HIGH);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(HUMAN_LED_GREEN, LOW);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delay</a:t>
            </a:r>
            <a:r>
              <a:rPr dirty="0" lang="ko-KR" smtClean="0" sz="1200"/>
              <a:t>(5000);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(CAR_LED_RED, LOW);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(CAR_LED_YELLOW, HIGH);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(CAR_LED_GREEN, LOW);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(HUMAN_LED_RED, HIGH);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(HUMAN_LED_GREEN, LOW);</a:t>
            </a:r>
          </a:p>
          <a:p>
            <a:r>
              <a:rPr dirty="0" lang="ko-KR" smtClean="0" sz="1200"/>
              <a:t>  </a:t>
            </a:r>
            <a:r>
              <a:rPr dirty="0" err="1" lang="ko-KR" smtClean="0" sz="1200"/>
              <a:t>delay</a:t>
            </a:r>
            <a:r>
              <a:rPr dirty="0" lang="ko-KR" smtClean="0" sz="1200"/>
              <a:t>(5000);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888965" y="1087877"/>
            <a:ext cx="3203510" cy="36009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 </a:t>
            </a:r>
            <a:r>
              <a:rPr dirty="0" lang="ko-KR" smtClean="0" sz="1200"/>
              <a:t> </a:t>
            </a:r>
            <a:r>
              <a:rPr dirty="0" err="1" lang="ko-KR" smtClean="0" sz="1200"/>
              <a:t>digitalWrite</a:t>
            </a:r>
            <a:r>
              <a:rPr dirty="0" lang="ko-KR" smtClean="0" sz="1200"/>
              <a:t>(CAR_LED_RED</a:t>
            </a:r>
            <a:r>
              <a:rPr dirty="0" lang="ko-KR" sz="1200"/>
              <a:t>, HIGH);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(CAR_LED_YELLOW, LOW);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(CAR_LED_GREEN, LOW);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(HUMAN_LED_RED, LOW);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HIGH);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(2000);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LOW);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HIGH);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LOW);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HIGH);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LOW);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digitalWrite</a:t>
            </a:r>
            <a:r>
              <a:rPr dirty="0" lang="ko-KR" sz="1200"/>
              <a:t>(HUMAN_LED_GREEN, HIGH);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}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8258" l="4678" r="98357" t="1016"/>
                    </a14:imgEffect>
                  </a14:imgLayer>
                </a14:imgProps>
              </a:ext>
            </a:extLst>
          </a:blip>
          <a:srcRect l="8674"/>
          <a:stretch/>
        </p:blipFill>
        <p:spPr>
          <a:xfrm>
            <a:off x="329683" y="1017036"/>
            <a:ext cx="5001206" cy="47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10407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8922" l="2579" r="96952" t="1213">
                        <a14:foregroundMark x1="17585" x2="35756" y1="66442" y2="66173"/>
                        <a14:foregroundMark x1="40914" x2="40914" y1="67790" y2="67790"/>
                        <a14:foregroundMark x1="40445" x2="41032" y1="63747" y2="69003"/>
                        <a14:foregroundMark x1="66589" x2="66589" y1="48787" y2="48787"/>
                        <a14:foregroundMark x1="67175" x2="67175" y1="56334" y2="56334"/>
                        <a14:foregroundMark x1="66940" x2="67057" y1="55256" y2="48113"/>
                        <a14:foregroundMark x1="65651" x2="55334" y1="48113" y2="47844"/>
                        <a14:foregroundMark x1="55334" x2="55217" y1="47305" y2="33693"/>
                        <a14:foregroundMark x1="73857" x2="73974" y1="40162" y2="49057"/>
                        <a14:foregroundMark x1="92380" x2="92263" y1="51887" y2="93261"/>
                        <a14:foregroundMark x1="73974" x2="73857" y1="94340" y2="90431"/>
                        <a14:foregroundMark x1="42438" x2="42087" y1="40836" y2="94070"/>
                        <a14:foregroundMark x1="44197" x2="66589" y1="96496" y2="96496"/>
                        <a14:foregroundMark x1="67878" x2="67644" y1="95418" y2="92588"/>
                        <a14:foregroundMark x1="47597" x2="47948" y1="91375" y2="94205"/>
                        <a14:foregroundMark x1="49238" x2="64361" y1="94879" y2="94879"/>
                        <a14:foregroundMark x1="65533" x2="66354" y1="94879" y2="90431"/>
                        <a14:backgroundMark x1="50645" x2="62603" y1="93396" y2="92992"/>
                        <a14:backgroundMark x1="42556" x2="42673" y1="73181" y2="80593"/>
                        <a14:backgroundMark x1="56155" x2="62016" y1="96092" y2="95687"/>
                      </a14:backgroundRemoval>
                    </a14:imgEffect>
                  </a14:imgLayer>
                </a14:imgProps>
              </a:ext>
            </a:extLst>
          </a:blip>
          <a:srcRect l="16621"/>
          <a:stretch/>
        </p:blipFill>
        <p:spPr>
          <a:xfrm>
            <a:off x="0" y="1246909"/>
            <a:ext cx="4681460" cy="4884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986" y="121254"/>
            <a:ext cx="508344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LED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스탠드 만들기 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1_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가변저항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사용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0" y="662475"/>
            <a:ext cx="499594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6669239" y="432620"/>
            <a:ext cx="2353733" cy="212365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define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LED 9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define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VR A0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setup(){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(9600);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loop(){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Serial.println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analogRead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(VR));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delay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(500);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606514" y="3237863"/>
            <a:ext cx="4885439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400"/>
              <a:t>#</a:t>
            </a:r>
            <a:r>
              <a:rPr dirty="0" err="1" lang="ko-KR" sz="1400"/>
              <a:t>define</a:t>
            </a:r>
            <a:r>
              <a:rPr dirty="0" lang="ko-KR" sz="1400"/>
              <a:t> LED 9</a:t>
            </a:r>
          </a:p>
          <a:p>
            <a:r>
              <a:rPr dirty="0" lang="ko-KR" sz="1400"/>
              <a:t>#</a:t>
            </a:r>
            <a:r>
              <a:rPr dirty="0" err="1" lang="ko-KR" sz="1400"/>
              <a:t>define</a:t>
            </a:r>
            <a:r>
              <a:rPr dirty="0" lang="ko-KR" sz="1400"/>
              <a:t> VR A0</a:t>
            </a:r>
          </a:p>
          <a:p>
            <a:endParaRPr dirty="0" lang="ko-KR" sz="1400"/>
          </a:p>
          <a:p>
            <a:r>
              <a:rPr dirty="0" err="1" lang="ko-KR" sz="1400"/>
              <a:t>void</a:t>
            </a:r>
            <a:r>
              <a:rPr dirty="0" lang="ko-KR" sz="1400"/>
              <a:t> setup(){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Serial.begin</a:t>
            </a:r>
            <a:r>
              <a:rPr dirty="0" lang="ko-KR" sz="1400"/>
              <a:t>(9600);</a:t>
            </a:r>
          </a:p>
          <a:p>
            <a:r>
              <a:rPr dirty="0" lang="ko-KR" sz="1400"/>
              <a:t>}</a:t>
            </a:r>
          </a:p>
          <a:p>
            <a:endParaRPr dirty="0" lang="ko-KR" sz="1400"/>
          </a:p>
          <a:p>
            <a:r>
              <a:rPr dirty="0" err="1" lang="ko-KR" sz="1400"/>
              <a:t>void</a:t>
            </a:r>
            <a:r>
              <a:rPr dirty="0" lang="ko-KR" sz="1400"/>
              <a:t> loop(){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int</a:t>
            </a:r>
            <a:r>
              <a:rPr dirty="0" lang="ko-KR" sz="1400"/>
              <a:t> </a:t>
            </a:r>
            <a:r>
              <a:rPr dirty="0" err="1" lang="ko-KR" sz="1400"/>
              <a:t>analogValue</a:t>
            </a:r>
            <a:r>
              <a:rPr dirty="0" lang="ko-KR" sz="1400"/>
              <a:t> = </a:t>
            </a:r>
            <a:r>
              <a:rPr dirty="0" err="1" lang="ko-KR" sz="1400"/>
              <a:t>analogRead</a:t>
            </a:r>
            <a:r>
              <a:rPr dirty="0" lang="ko-KR" sz="1400"/>
              <a:t>(VR);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int</a:t>
            </a:r>
            <a:r>
              <a:rPr dirty="0" lang="ko-KR" sz="1400"/>
              <a:t> </a:t>
            </a:r>
            <a:r>
              <a:rPr dirty="0" err="1" lang="ko-KR" sz="1400"/>
              <a:t>analogMapping</a:t>
            </a:r>
            <a:r>
              <a:rPr dirty="0" lang="ko-KR" sz="1400"/>
              <a:t> = </a:t>
            </a:r>
            <a:r>
              <a:rPr dirty="0" err="1" lang="ko-KR" sz="1400"/>
              <a:t>map</a:t>
            </a:r>
            <a:r>
              <a:rPr dirty="0" lang="ko-KR" sz="1400"/>
              <a:t>(</a:t>
            </a:r>
            <a:r>
              <a:rPr dirty="0" err="1" lang="ko-KR" sz="1400"/>
              <a:t>analogValue</a:t>
            </a:r>
            <a:r>
              <a:rPr dirty="0" lang="ko-KR" sz="1400"/>
              <a:t>, 0, 1023, 0, 255);</a:t>
            </a:r>
          </a:p>
          <a:p>
            <a:r>
              <a:rPr dirty="0" lang="ko-KR" sz="1400"/>
              <a:t>  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analogWrite</a:t>
            </a:r>
            <a:r>
              <a:rPr dirty="0" lang="ko-KR" sz="1400"/>
              <a:t>(LED, </a:t>
            </a:r>
            <a:r>
              <a:rPr dirty="0" err="1" lang="ko-KR" sz="1400"/>
              <a:t>analogMapping</a:t>
            </a:r>
            <a:r>
              <a:rPr dirty="0" lang="ko-KR" sz="1400"/>
              <a:t>);</a:t>
            </a:r>
          </a:p>
          <a:p>
            <a:r>
              <a:rPr dirty="0" lang="ko-KR" sz="1400"/>
              <a:t>}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302621" y="432620"/>
            <a:ext cx="2353733" cy="32316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numCol="1" wrap="square">
            <a:spAutoFit/>
          </a:bodyPr>
          <a:lstStyle/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#define LED 9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#define VR A0</a:t>
            </a:r>
          </a:p>
          <a:p>
            <a:endParaRPr altLang="ko-KR" dirty="0" lang="en-US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void setup(){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z="1200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(9600);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  <a:p>
            <a:endParaRPr altLang="ko-KR" dirty="0" lang="en-US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void loop(){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z="1200">
                <a:solidFill>
                  <a:schemeClr val="bg1">
                    <a:lumMod val="50000"/>
                  </a:schemeClr>
                </a:solidFill>
              </a:rPr>
              <a:t>analogWrite</a:t>
            </a:r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(LED, 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delay(500);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z="1200">
                <a:solidFill>
                  <a:schemeClr val="bg1">
                    <a:lumMod val="50000"/>
                  </a:schemeClr>
                </a:solidFill>
              </a:rPr>
              <a:t>analogWrite</a:t>
            </a:r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(LED, 50);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delay(500);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z="1200">
                <a:solidFill>
                  <a:schemeClr val="bg1">
                    <a:lumMod val="50000"/>
                  </a:schemeClr>
                </a:solidFill>
              </a:rPr>
              <a:t>analogWrite</a:t>
            </a:r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(LED, 150);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delay(500);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altLang="ko-KR" dirty="0" err="1" lang="en-US" sz="1200">
                <a:solidFill>
                  <a:schemeClr val="bg1">
                    <a:lumMod val="50000"/>
                  </a:schemeClr>
                </a:solidFill>
              </a:rPr>
              <a:t>analogWrite</a:t>
            </a:r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(LED, 255);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  delay(500);</a:t>
            </a:r>
          </a:p>
          <a:p>
            <a:r>
              <a:rPr altLang="ko-KR" dirty="0" lang="en-US" sz="1200">
                <a:solidFill>
                  <a:schemeClr val="bg1">
                    <a:lumMod val="50000"/>
                  </a:schemeClr>
                </a:solidFill>
              </a:rPr>
              <a:t>}</a:t>
            </a:r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hlinkClick r:id="rId4"/>
          </p:cNvPr>
          <p:cNvSpPr/>
          <p:nvPr/>
        </p:nvSpPr>
        <p:spPr>
          <a:xfrm>
            <a:off x="8115471" y="6319218"/>
            <a:ext cx="3733458" cy="369332"/>
          </a:xfrm>
          <a:prstGeom prst="rect">
            <a:avLst/>
          </a:prstGeom>
        </p:spPr>
        <p:txBody>
          <a:bodyPr numCol="1" wrap="none">
            <a:spAutoFit/>
          </a:bodyPr>
          <a:lstStyle/>
          <a:p>
            <a:r>
              <a:rPr dirty="0" err="1" lang="ko-KR"/>
              <a:t>가변저항</a:t>
            </a:r>
            <a:r>
              <a:rPr dirty="0" lang="ko-KR"/>
              <a:t>(</a:t>
            </a:r>
            <a:r>
              <a:rPr dirty="0" err="1" lang="ko-KR"/>
              <a:t>Potentiometer</a:t>
            </a:r>
            <a:r>
              <a:rPr dirty="0" lang="ko-KR"/>
              <a:t>) 사용하기</a:t>
            </a:r>
          </a:p>
        </p:txBody>
      </p:sp>
    </p:spTree>
    <p:extLst>
      <p:ext uri="{BB962C8B-B14F-4D97-AF65-F5344CB8AC3E}">
        <p14:creationId xmlns:p14="http://schemas.microsoft.com/office/powerpoint/2010/main" val="2278249280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986" y="121254"/>
            <a:ext cx="298030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LED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스탠드 만들기 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2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0" y="662475"/>
            <a:ext cx="297595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422" l="1582" r="95254" t="3035">
                        <a14:foregroundMark x1="40565" x2="40565" y1="6069" y2="6069"/>
                        <a14:foregroundMark x1="42260" x2="92316" y1="5780" y2="6214"/>
                        <a14:foregroundMark x1="76045" x2="88701" y1="5491" y2="5491"/>
                        <a14:foregroundMark x1="74237" x2="76045" y1="5491" y2="5491"/>
                        <a14:foregroundMark x1="39774" x2="41243" y1="47977" y2="46965"/>
                        <a14:foregroundMark x1="41243" x2="91751" y1="48699" y2="47977"/>
                      </a14:backgroundRemoval>
                    </a14:imgEffect>
                  </a14:imgLayer>
                </a14:imgProps>
              </a:ext>
            </a:extLst>
          </a:blip>
          <a:srcRect l="4959" r="5143" t="3194"/>
          <a:stretch/>
        </p:blipFill>
        <p:spPr>
          <a:xfrm>
            <a:off x="93306" y="1278293"/>
            <a:ext cx="5197151" cy="437605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398740" y="473383"/>
            <a:ext cx="2812473" cy="19432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define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SW_PIN 5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setup() 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(9600);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pinMode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(SW_PIN, INPUT_PULLUP);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loop() 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digitalRead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(SW_PIN);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Serial.prntln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398740" y="2668709"/>
            <a:ext cx="2812473" cy="34163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define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SW_PIN 5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newSwValue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= 1;</a:t>
            </a: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oldSwValue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= 1;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setup() 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(9600);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pinMode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(SW_PIN, INPUT_PULLUP);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loop() 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newSwValue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digitalRead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(SW_PIN);</a:t>
            </a:r>
          </a:p>
          <a:p>
            <a:endParaRPr dirty="0" lang="ko-KR" sz="1200">
              <a:solidFill>
                <a:schemeClr val="bg1">
                  <a:lumMod val="50000"/>
                </a:schemeClr>
              </a:solidFill>
            </a:endParaRP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if(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newSwValue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!=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oldSwValue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) {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oldSwValue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newSwValue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Serial.println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dirty="0" err="1" lang="ko-KR" sz="1200">
                <a:solidFill>
                  <a:schemeClr val="bg1">
                    <a:lumMod val="50000"/>
                  </a:schemeClr>
                </a:solidFill>
              </a:rPr>
              <a:t>newSwValue</a:t>
            </a:r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  }</a:t>
            </a:r>
          </a:p>
          <a:p>
            <a:r>
              <a:rPr dirty="0" lang="ko-KR" sz="120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422433" y="473383"/>
            <a:ext cx="3390122" cy="54702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SW_PIN 5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LED_PIN 11</a:t>
            </a:r>
          </a:p>
          <a:p>
            <a:endParaRPr dirty="0" lang="ko-KR" sz="1200"/>
          </a:p>
          <a:p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newSwValue</a:t>
            </a:r>
            <a:r>
              <a:rPr dirty="0" lang="ko-KR" sz="1200"/>
              <a:t> = 1;</a:t>
            </a:r>
          </a:p>
          <a:p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oldSwValue</a:t>
            </a:r>
            <a:r>
              <a:rPr dirty="0" lang="ko-KR" sz="1200"/>
              <a:t> = 1;</a:t>
            </a:r>
          </a:p>
          <a:p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cnt</a:t>
            </a:r>
            <a:r>
              <a:rPr dirty="0" lang="ko-KR" sz="1200"/>
              <a:t> = 0;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setup()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Serial.begin</a:t>
            </a:r>
            <a:r>
              <a:rPr dirty="0" lang="ko-KR" sz="1200"/>
              <a:t>(9600);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(SW_PIN, INPUT_PULLUP);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loop()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newSwValue</a:t>
            </a:r>
            <a:r>
              <a:rPr dirty="0" lang="ko-KR" sz="1200"/>
              <a:t> = </a:t>
            </a:r>
            <a:r>
              <a:rPr dirty="0" err="1" lang="ko-KR" sz="1200"/>
              <a:t>digitalRead</a:t>
            </a:r>
            <a:r>
              <a:rPr dirty="0" lang="ko-KR" sz="1200"/>
              <a:t>(SW_PIN);</a:t>
            </a:r>
          </a:p>
          <a:p>
            <a:endParaRPr dirty="0" lang="ko-KR" sz="1200"/>
          </a:p>
          <a:p>
            <a:r>
              <a:rPr dirty="0" lang="ko-KR" sz="1200"/>
              <a:t>  if(</a:t>
            </a:r>
            <a:r>
              <a:rPr dirty="0" err="1" lang="ko-KR" sz="1200"/>
              <a:t>newSwValue</a:t>
            </a:r>
            <a:r>
              <a:rPr dirty="0" lang="ko-KR" sz="1200"/>
              <a:t> != </a:t>
            </a:r>
            <a:r>
              <a:rPr dirty="0" err="1" lang="ko-KR" sz="1200"/>
              <a:t>oldSwValue</a:t>
            </a:r>
            <a:r>
              <a:rPr dirty="0" lang="ko-KR" sz="1200"/>
              <a:t>) {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oldSwValue</a:t>
            </a:r>
            <a:r>
              <a:rPr dirty="0" lang="ko-KR" sz="1200"/>
              <a:t> = </a:t>
            </a:r>
            <a:r>
              <a:rPr dirty="0" err="1" lang="ko-KR" sz="1200"/>
              <a:t>newSwValue</a:t>
            </a:r>
            <a:r>
              <a:rPr dirty="0" lang="ko-KR" sz="1200"/>
              <a:t>;</a:t>
            </a:r>
          </a:p>
          <a:p>
            <a:r>
              <a:rPr dirty="0" lang="ko-KR" sz="1200"/>
              <a:t>    if(</a:t>
            </a:r>
            <a:r>
              <a:rPr dirty="0" err="1" lang="ko-KR" sz="1200"/>
              <a:t>newSwValue</a:t>
            </a:r>
            <a:r>
              <a:rPr dirty="0" lang="ko-KR" sz="1200"/>
              <a:t> == 0) {</a:t>
            </a:r>
          </a:p>
          <a:p>
            <a:r>
              <a:rPr dirty="0" lang="ko-KR" sz="1200"/>
              <a:t>      </a:t>
            </a:r>
            <a:r>
              <a:rPr dirty="0" err="1" lang="ko-KR" sz="1200"/>
              <a:t>cnt</a:t>
            </a:r>
            <a:r>
              <a:rPr dirty="0" lang="ko-KR" sz="1200"/>
              <a:t>++;</a:t>
            </a:r>
          </a:p>
          <a:p>
            <a:r>
              <a:rPr dirty="0" lang="ko-KR" sz="1200"/>
              <a:t>      if(</a:t>
            </a:r>
            <a:r>
              <a:rPr dirty="0" err="1" lang="ko-KR" sz="1200"/>
              <a:t>cnt</a:t>
            </a:r>
            <a:r>
              <a:rPr dirty="0" lang="ko-KR" sz="1200"/>
              <a:t> &gt;= 4) </a:t>
            </a:r>
            <a:r>
              <a:rPr dirty="0" err="1" lang="ko-KR" sz="1200"/>
              <a:t>cnt</a:t>
            </a:r>
            <a:r>
              <a:rPr dirty="0" lang="ko-KR" sz="1200"/>
              <a:t> = 0;</a:t>
            </a:r>
          </a:p>
          <a:p>
            <a:r>
              <a:rPr dirty="0" lang="ko-KR" sz="1200"/>
              <a:t>      </a:t>
            </a:r>
            <a:r>
              <a:rPr dirty="0" err="1" lang="ko-KR" sz="1200"/>
              <a:t>Serial.println</a:t>
            </a:r>
            <a:r>
              <a:rPr dirty="0" lang="ko-KR" sz="1200"/>
              <a:t>(</a:t>
            </a:r>
            <a:r>
              <a:rPr dirty="0" err="1" lang="ko-KR" sz="1200"/>
              <a:t>newSwValue</a:t>
            </a:r>
            <a:r>
              <a:rPr dirty="0" lang="ko-KR" sz="1200"/>
              <a:t>);</a:t>
            </a:r>
          </a:p>
          <a:p>
            <a:r>
              <a:rPr dirty="0" lang="ko-KR" sz="1200"/>
              <a:t>    }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delay</a:t>
            </a:r>
            <a:r>
              <a:rPr dirty="0" lang="ko-KR" sz="1200"/>
              <a:t>(200);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  if(</a:t>
            </a:r>
            <a:r>
              <a:rPr dirty="0" err="1" lang="ko-KR" sz="1200"/>
              <a:t>cnt</a:t>
            </a:r>
            <a:r>
              <a:rPr dirty="0" lang="ko-KR" sz="1200"/>
              <a:t> == 0) </a:t>
            </a:r>
            <a:r>
              <a:rPr dirty="0" err="1" lang="ko-KR" sz="1200"/>
              <a:t>analogWrite</a:t>
            </a:r>
            <a:r>
              <a:rPr dirty="0" lang="ko-KR" sz="1200"/>
              <a:t>(LED_PIN, 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cnt</a:t>
            </a:r>
            <a:r>
              <a:rPr dirty="0" lang="ko-KR" sz="1200"/>
              <a:t> == 1) </a:t>
            </a:r>
            <a:r>
              <a:rPr dirty="0" err="1" lang="ko-KR" sz="1200"/>
              <a:t>analogWrite</a:t>
            </a:r>
            <a:r>
              <a:rPr dirty="0" lang="ko-KR" sz="1200"/>
              <a:t>(LED_PIN, 50);   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cnt</a:t>
            </a:r>
            <a:r>
              <a:rPr dirty="0" lang="ko-KR" sz="1200"/>
              <a:t> == 2) </a:t>
            </a:r>
            <a:r>
              <a:rPr dirty="0" err="1" lang="ko-KR" sz="1200"/>
              <a:t>analogWrite</a:t>
            </a:r>
            <a:r>
              <a:rPr dirty="0" lang="ko-KR" sz="1200"/>
              <a:t>(LED_PIN, 150);   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cnt</a:t>
            </a:r>
            <a:r>
              <a:rPr dirty="0" lang="ko-KR" sz="1200"/>
              <a:t> == 3) </a:t>
            </a:r>
            <a:r>
              <a:rPr dirty="0" err="1" lang="ko-KR" sz="1200"/>
              <a:t>analogWrite</a:t>
            </a:r>
            <a:r>
              <a:rPr dirty="0" lang="ko-KR" sz="1200"/>
              <a:t>(LED_PIN, 255);   </a:t>
            </a:r>
          </a:p>
          <a:p>
            <a:r>
              <a:rPr dirty="0" lang="ko-KR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4381613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986" y="121254"/>
            <a:ext cx="2262158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Serial monitor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215265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65197" y="317443"/>
            <a:ext cx="1468479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err="1" lang="en-US" smtClean="0"/>
              <a:t>Tinkercad</a:t>
            </a:r>
            <a:endParaRPr dirty="0" lang="ko-KR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57" y="352086"/>
            <a:ext cx="5314287" cy="62627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6324657" y="5267325"/>
            <a:ext cx="1533468" cy="5048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4" name="직사각형 13">
            <a:hlinkClick r:id="rId3"/>
          </p:cNvPr>
          <p:cNvSpPr/>
          <p:nvPr/>
        </p:nvSpPr>
        <p:spPr>
          <a:xfrm>
            <a:off x="595133" y="1086614"/>
            <a:ext cx="1617751" cy="369332"/>
          </a:xfrm>
          <a:prstGeom prst="rect">
            <a:avLst/>
          </a:prstGeom>
        </p:spPr>
        <p:txBody>
          <a:bodyPr numCol="1" wrap="none">
            <a:spAutoFit/>
          </a:bodyPr>
          <a:lstStyle/>
          <a:p>
            <a:r>
              <a:rPr dirty="0" err="1" lang="ko-KR"/>
              <a:t>Serial.println</a:t>
            </a:r>
            <a:r>
              <a:rPr dirty="0" lang="ko-KR"/>
              <a:t>()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95133" y="1581330"/>
            <a:ext cx="3442672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시리얼 포트에 출력하기</a:t>
            </a:r>
            <a:endParaRPr dirty="0" lang="ko-KR" sz="1400"/>
          </a:p>
        </p:txBody>
      </p:sp>
      <p:grpSp>
        <p:nvGrpSpPr>
          <p:cNvPr id="13" name="그룹 12"/>
          <p:cNvGrpSpPr/>
          <p:nvPr/>
        </p:nvGrpSpPr>
        <p:grpSpPr>
          <a:xfrm>
            <a:off x="9217290" y="3395060"/>
            <a:ext cx="1767122" cy="819264"/>
            <a:chOff x="1376242" y="1600143"/>
            <a:chExt cx="1767122" cy="81926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6242" y="1600143"/>
              <a:ext cx="1724266" cy="819264"/>
            </a:xfrm>
            <a:prstGeom prst="rect">
              <a:avLst/>
            </a:prstGeom>
          </p:spPr>
        </p:pic>
        <p:sp>
          <p:nvSpPr>
            <p:cNvPr id="8" name="타원 7"/>
            <p:cNvSpPr/>
            <p:nvPr/>
          </p:nvSpPr>
          <p:spPr>
            <a:xfrm>
              <a:off x="2324100" y="1600143"/>
              <a:ext cx="819264" cy="81926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lang="ko-K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327809" y="3537992"/>
            <a:ext cx="1731500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lang="en-US" smtClean="0"/>
              <a:t>Arduino IDE</a:t>
            </a:r>
            <a:endParaRPr dirty="0" lang="ko-KR"/>
          </a:p>
        </p:txBody>
      </p:sp>
      <p:sp>
        <p:nvSpPr>
          <p:cNvPr id="16" name="직사각형 15">
            <a:hlinkClick r:id="rId5"/>
          </p:cNvPr>
          <p:cNvSpPr/>
          <p:nvPr/>
        </p:nvSpPr>
        <p:spPr>
          <a:xfrm>
            <a:off x="595133" y="2085025"/>
            <a:ext cx="1549848" cy="369332"/>
          </a:xfrm>
          <a:prstGeom prst="rect">
            <a:avLst/>
          </a:prstGeom>
        </p:spPr>
        <p:txBody>
          <a:bodyPr numCol="1" wrap="none">
            <a:spAutoFit/>
          </a:bodyPr>
          <a:lstStyle/>
          <a:p>
            <a:r>
              <a:rPr altLang="ko-KR" dirty="0" err="1" lang="en-US" smtClean="0"/>
              <a:t>analogRead</a:t>
            </a:r>
            <a:r>
              <a:rPr altLang="ko-KR" dirty="0" lang="en-US" smtClean="0"/>
              <a:t>()</a:t>
            </a:r>
            <a:endParaRPr dirty="0" lang="ko-KR"/>
          </a:p>
        </p:txBody>
      </p:sp>
      <p:sp>
        <p:nvSpPr>
          <p:cNvPr id="17" name="직사각형 16"/>
          <p:cNvSpPr/>
          <p:nvPr/>
        </p:nvSpPr>
        <p:spPr>
          <a:xfrm>
            <a:off x="595133" y="2579741"/>
            <a:ext cx="3442672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아날로그 입력 핀에서 값 읽기</a:t>
            </a:r>
            <a:endParaRPr dirty="0" lang="ko-KR" sz="1400"/>
          </a:p>
        </p:txBody>
      </p:sp>
      <p:sp>
        <p:nvSpPr>
          <p:cNvPr id="18" name="직사각형 17">
            <a:hlinkClick r:id="rId6"/>
          </p:cNvPr>
          <p:cNvSpPr/>
          <p:nvPr/>
        </p:nvSpPr>
        <p:spPr>
          <a:xfrm>
            <a:off x="595133" y="3258719"/>
            <a:ext cx="1591782" cy="369332"/>
          </a:xfrm>
          <a:prstGeom prst="rect">
            <a:avLst/>
          </a:prstGeom>
        </p:spPr>
        <p:txBody>
          <a:bodyPr numCol="1" wrap="none">
            <a:spAutoFit/>
          </a:bodyPr>
          <a:lstStyle/>
          <a:p>
            <a:r>
              <a:rPr altLang="ko-KR" dirty="0" err="1" lang="en-US" smtClean="0"/>
              <a:t>analogWrite</a:t>
            </a:r>
            <a:r>
              <a:rPr altLang="ko-KR" dirty="0" lang="en-US" smtClean="0"/>
              <a:t>()</a:t>
            </a:r>
            <a:endParaRPr dirty="0" lang="ko-KR"/>
          </a:p>
        </p:txBody>
      </p:sp>
      <p:sp>
        <p:nvSpPr>
          <p:cNvPr id="19" name="직사각형 18"/>
          <p:cNvSpPr/>
          <p:nvPr/>
        </p:nvSpPr>
        <p:spPr>
          <a:xfrm>
            <a:off x="595133" y="3753435"/>
            <a:ext cx="3442672" cy="307777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dirty="0" lang="ko-KR" smtClean="0" sz="1400"/>
              <a:t>핀에 아날로그 값</a:t>
            </a:r>
            <a:r>
              <a:rPr altLang="ko-KR" dirty="0" lang="en-US" smtClean="0" sz="1400"/>
              <a:t>(PWM ware) </a:t>
            </a:r>
            <a:r>
              <a:rPr dirty="0" lang="ko-KR" smtClean="0" sz="1400"/>
              <a:t>쓰기</a:t>
            </a:r>
            <a:endParaRPr dirty="0" lang="ko-KR" sz="1400"/>
          </a:p>
        </p:txBody>
      </p:sp>
    </p:spTree>
    <p:extLst>
      <p:ext uri="{BB962C8B-B14F-4D97-AF65-F5344CB8AC3E}">
        <p14:creationId xmlns:p14="http://schemas.microsoft.com/office/powerpoint/2010/main" val="287271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173637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Reference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76794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44609" y="1266631"/>
            <a:ext cx="10675866" cy="2677656"/>
          </a:xfrm>
          <a:prstGeom prst="rect">
            <a:avLst/>
          </a:prstGeom>
          <a:noFill/>
        </p:spPr>
        <p:txBody>
          <a:bodyPr numCol="1" rtlCol="0" wrap="square">
            <a:spAutoFit/>
          </a:bodyPr>
          <a:lstStyle/>
          <a:p>
            <a:pPr indent="-285750" marL="285750">
              <a:buFont charset="0" panose="020B0604020202020204" pitchFamily="34" typeface="Arial"/>
              <a:buChar char="•"/>
            </a:pPr>
            <a:r>
              <a:rPr dirty="0" lang="ko-KR" smtClean="0" sz="2400"/>
              <a:t>만들면서</a:t>
            </a:r>
            <a:r>
              <a:rPr altLang="ko-KR" dirty="0" lang="en-US" smtClean="0" sz="2400"/>
              <a:t> </a:t>
            </a:r>
            <a:r>
              <a:rPr dirty="0" lang="ko-KR" smtClean="0" sz="2400"/>
              <a:t>배우는 </a:t>
            </a:r>
            <a:r>
              <a:rPr dirty="0" err="1" lang="ko-KR" smtClean="0" sz="2400"/>
              <a:t>아두이노와</a:t>
            </a:r>
            <a:r>
              <a:rPr dirty="0" lang="ko-KR" smtClean="0" sz="2400"/>
              <a:t> </a:t>
            </a:r>
            <a:r>
              <a:rPr altLang="ko-KR" dirty="0" lang="en-US" smtClean="0" sz="2400"/>
              <a:t>40</a:t>
            </a:r>
            <a:r>
              <a:rPr dirty="0" lang="ko-KR" smtClean="0" sz="2400"/>
              <a:t>개의 작품들</a:t>
            </a:r>
            <a:r>
              <a:rPr altLang="ko-KR" dirty="0" lang="en-US" smtClean="0" sz="2400"/>
              <a:t>. </a:t>
            </a:r>
            <a:r>
              <a:rPr dirty="0" err="1" lang="ko-KR" smtClean="0" sz="2400"/>
              <a:t>장문철</a:t>
            </a:r>
            <a:r>
              <a:rPr altLang="ko-KR" dirty="0" lang="en-US" smtClean="0" sz="2400"/>
              <a:t>, </a:t>
            </a:r>
            <a:r>
              <a:rPr dirty="0" err="1" lang="ko-KR" smtClean="0" sz="2400"/>
              <a:t>앤써북</a:t>
            </a:r>
            <a:endParaRPr altLang="ko-KR" dirty="0" lang="en-US" smtClean="0" sz="2400"/>
          </a:p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lang="en-US" sz="2400">
                <a:hlinkClick r:id="rId2"/>
              </a:rPr>
              <a:t>https://blog.arduino.cc</a:t>
            </a:r>
            <a:r>
              <a:rPr altLang="ko-KR" dirty="0" lang="en-US" smtClean="0" sz="2400">
                <a:hlinkClick r:id="rId3"/>
              </a:rPr>
              <a:t>/</a:t>
            </a:r>
            <a:endParaRPr altLang="ko-KR" dirty="0" lang="en-US" smtClean="0" sz="2400"/>
          </a:p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lang="en-US" smtClean="0" sz="2400">
                <a:hlinkClick r:id="rId4"/>
              </a:rPr>
              <a:t>https</a:t>
            </a:r>
            <a:r>
              <a:rPr altLang="ko-KR" dirty="0" lang="en-US" sz="2400">
                <a:hlinkClick r:id="rId5"/>
              </a:rPr>
              <a:t>://projecthub.arduino.cc</a:t>
            </a:r>
            <a:r>
              <a:rPr altLang="ko-KR" dirty="0" lang="en-US" smtClean="0" sz="2400">
                <a:hlinkClick r:id="rId6"/>
              </a:rPr>
              <a:t>/</a:t>
            </a:r>
            <a:endParaRPr altLang="ko-KR" dirty="0" lang="en-US" smtClean="0" sz="2400"/>
          </a:p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lang="en-US" sz="2400">
                <a:hlinkClick r:id="rId7"/>
              </a:rPr>
              <a:t>https://techweb.rohm.co.kr</a:t>
            </a:r>
            <a:r>
              <a:rPr altLang="ko-KR" dirty="0" lang="en-US" smtClean="0" sz="2400">
                <a:hlinkClick r:id="rId8"/>
              </a:rPr>
              <a:t>/</a:t>
            </a:r>
            <a:endParaRPr altLang="ko-KR" dirty="0" lang="en-US" smtClean="0" sz="2400"/>
          </a:p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lang="en-US" sz="2400">
                <a:hlinkClick r:id="rId9"/>
              </a:rPr>
              <a:t>http://</a:t>
            </a:r>
            <a:r>
              <a:rPr altLang="ko-KR" dirty="0" lang="en-US" smtClean="0" sz="2400">
                <a:hlinkClick r:id="rId10"/>
              </a:rPr>
              <a:t>www.kocw.net/home/search/kemView.do?kemId=1346592</a:t>
            </a:r>
            <a:endParaRPr altLang="ko-KR" dirty="0" lang="en-US" smtClean="0" sz="2400"/>
          </a:p>
          <a:p>
            <a:pPr indent="-285750" marL="285750">
              <a:buFont charset="0" panose="020B0604020202020204" pitchFamily="34" typeface="Arial"/>
              <a:buChar char="•"/>
            </a:pPr>
            <a:r>
              <a:rPr altLang="ko-KR" dirty="0" lang="en-US" sz="2400">
                <a:hlinkClick r:id="rId11"/>
              </a:rPr>
              <a:t>http://</a:t>
            </a:r>
            <a:r>
              <a:rPr altLang="ko-KR" dirty="0" lang="en-US" smtClean="0" sz="2400">
                <a:hlinkClick r:id="rId12"/>
              </a:rPr>
              <a:t>www.kocw.net/home/search/kemView.do?kemId=1308543</a:t>
            </a:r>
            <a:endParaRPr altLang="ko-KR" dirty="0" lang="en-US" smtClean="0" sz="2400"/>
          </a:p>
          <a:p>
            <a:pPr indent="-285750" marL="285750">
              <a:buFont charset="0" panose="020B0604020202020204" pitchFamily="34" typeface="Arial"/>
              <a:buChar char="•"/>
            </a:pPr>
            <a:endParaRPr dirty="0" lang="ko-KR" sz="2400"/>
          </a:p>
        </p:txBody>
      </p:sp>
    </p:spTree>
    <p:extLst>
      <p:ext uri="{BB962C8B-B14F-4D97-AF65-F5344CB8AC3E}">
        <p14:creationId xmlns:p14="http://schemas.microsoft.com/office/powerpoint/2010/main" val="2345235931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Words>1455</Words>
  <Paragraphs>333</Paragraphs>
  <Slides>16</Slides>
  <Notes>0</Notes>
  <TotalTime>542</TotalTime>
  <HiddenSlides>0</HiddenSlides>
  <MMClips>0</MMClips>
  <ScaleCrop>false</ScaleCrop>
  <HeadingPairs>
    <vt:vector baseType="variant" size="6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baseType="lpstr" size="21"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lication>Microsoft Office PowerPoint</Application>
  <AppVersion>16.0000</AppVersion>
  <PresentationFormat>와이드스크린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2025-05-25T06:59:37Z</dcterms:created>
  <dc:creator>isadora</dc:creator>
  <cp:lastModifiedBy>SAMSUNG</cp:lastModifiedBy>
  <dcterms:modified xsi:type="dcterms:W3CDTF">2025-06-23T07:32:27Z</dcterms:modified>
  <cp:revision>27</cp:revision>
  <dc:title>PowerPoint 프레젠테이션</dc:title>
</cp:coreProperties>
</file>