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altLang="ko-KR" lang="ko-KR"/>
    </a:defPPr>
    <a:lvl1pPr algn="l" defTabSz="914400" eaLnBrk="1" hangingPunct="1" latinLnBrk="1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autoAdjust="0" sz="15987"/>
    <p:restoredTop sz="94660"/>
  </p:normalViewPr>
  <p:slideViewPr>
    <p:cSldViewPr snapToGrid="0">
      <p:cViewPr varScale="1">
        <p:scale>
          <a:sx d="100" n="103"/>
          <a:sy d="100" n="103"/>
        </p:scale>
        <p:origin x="138" y="56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<Relationships xmlns="http://schemas.openxmlformats.org/package/2006/relationships"><Relationship Id="rId19" Target="slides/slide14.xml" Type="http://schemas.openxmlformats.org/officeDocument/2006/relationships/slide"/><Relationship Id="rId20" Target="slides/slide15.xml" Type="http://schemas.openxmlformats.org/officeDocument/2006/relationships/slide"/><Relationship Id="rId18" Target="slides/slide13.xml" Type="http://schemas.openxmlformats.org/officeDocument/2006/relationships/slide"/><Relationship Id="rId17" Target="slides/slide12.xml" Type="http://schemas.openxmlformats.org/officeDocument/2006/relationships/slide"/><Relationship Id="rId16" Target="slides/slide11.xml" Type="http://schemas.openxmlformats.org/officeDocument/2006/relationships/slide"/><Relationship Id="rId15" Target="slides/slide10.xml" Type="http://schemas.openxmlformats.org/officeDocument/2006/relationships/slide"/><Relationship Id="rId14" Target="slides/slide9.xml" Type="http://schemas.openxmlformats.org/officeDocument/2006/relationships/slide"/><Relationship Id="rId13" Target="slides/slide8.xml" Type="http://schemas.openxmlformats.org/officeDocument/2006/relationships/slide"/><Relationship Id="rId12" Target="slides/slide7.xml" Type="http://schemas.openxmlformats.org/officeDocument/2006/relationships/slide"/><Relationship Id="rId11" Target="slides/slide6.xml" Type="http://schemas.openxmlformats.org/officeDocument/2006/relationships/slide"/><Relationship Id="rId10" Target="slides/slide5.xml" Type="http://schemas.openxmlformats.org/officeDocument/2006/relationships/slide"/><Relationship Id="rId9" Target="slides/slide4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 numCol="1"/>
          <a:lstStyle>
            <a:lvl1pPr algn="ctr">
              <a:defRPr sz="60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부제목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 numCol="1"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ko-KR" smtClean="0"/>
              <a:t>클릭하여 마스터 부제목 스타일 편집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56260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91590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 numCol="1"/>
          <a:lstStyle>
            <a:lvl1pPr>
              <a:defRPr sz="60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 numCol="1"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5227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내용 개체 틀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5" name="날짜 개체 틀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2747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5" name="텍스트 개체 틀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 numCol="1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7" name="날짜 개체 틀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8" name="바닥글 개체 틀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33658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날짜 개체 틀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4" name="바닥글 개체 틀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1630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3" name="바닥글 개체 틀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38612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21065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그림 개체 틀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 numCol="1"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ko-KR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502613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세로 텍스트 개체 틀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8595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numCol="1" vert="eaVert"/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세로 텍스트 개체 틀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numCol="1" vert="eaVert"/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41551686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ko-KR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ko-KR" smtClean="0"/>
              <a:t>마스터 텍스트 스타일 편집</a:t>
            </a:r>
          </a:p>
          <a:p>
            <a:pPr lvl="1"/>
            <a:r>
              <a:rPr lang="ko-KR" smtClean="0"/>
              <a:t>둘째 수준</a:t>
            </a:r>
          </a:p>
          <a:p>
            <a:pPr lvl="2"/>
            <a:r>
              <a:rPr lang="ko-KR" smtClean="0"/>
              <a:t>셋째 수준</a:t>
            </a:r>
          </a:p>
          <a:p>
            <a:pPr lvl="3"/>
            <a:r>
              <a:rPr lang="ko-KR" smtClean="0"/>
              <a:t>넷째 수준</a:t>
            </a:r>
          </a:p>
          <a:p>
            <a:pPr lvl="4"/>
            <a:r>
              <a:rPr lang="ko-KR" smtClean="0"/>
              <a:t>다섯째 수준</a:t>
            </a:r>
            <a:endParaRPr lang="ko-KR"/>
          </a:p>
        </p:txBody>
      </p:sp>
      <p:sp>
        <p:nvSpPr>
          <p:cNvPr id="4" name="날짜 개체 틀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F7AD7-663E-4745-91D1-F7105B171636}" type="datetimeFigureOut">
              <a:rPr lang="ko-KR" smtClean="0"/>
              <a:t>2025-06-16</a:t>
            </a:fld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BA9F6-A1DB-4953-877C-1A3A314E6B2D}" type="slidenum">
              <a:rPr lang="ko-KR" smtClean="0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866374781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l" defTabSz="914400" eaLnBrk="1" hangingPunct="1" latinLnBrk="1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altLang="ko-KR"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3" Target="../media/image1.png" Type="http://schemas.openxmlformats.org/officeDocument/2006/relationships/image"/><Relationship Id="rId2" Target="https://www.arduino.cc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3" Target="../media/hdphoto1.wdp" Type="http://schemas.microsoft.com/office/2007/relationships/hdphoto"/><Relationship Id="rId2" Target="../media/image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3" Target="../media/hdphoto1.wdp" Type="http://schemas.microsoft.com/office/2007/relationships/hdphoto"/><Relationship Id="rId2" Target="../media/image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7" Target="../media/hdphoto4.wdp" Type="http://schemas.microsoft.com/office/2007/relationships/hdphoto"/><Relationship Id="rId6" Target="../media/image5.png" Type="http://schemas.openxmlformats.org/officeDocument/2006/relationships/image"/><Relationship Id="rId5" Target="../media/hdphoto3.wdp" Type="http://schemas.microsoft.com/office/2007/relationships/hdphoto"/><Relationship Id="rId4" Target="../media/image4.png" Type="http://schemas.openxmlformats.org/officeDocument/2006/relationships/image"/><Relationship Id="rId3" Target="../media/hdphoto2.wdp" Type="http://schemas.microsoft.com/office/2007/relationships/hdphoto"/><Relationship Id="rId2" Target="../media/image3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3" Target="../media/hdphoto5.wdp" Type="http://schemas.microsoft.com/office/2007/relationships/hdphoto"/><Relationship Id="rId2" Target="../media/image6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3" Target="../media/hdphoto6.wdp" Type="http://schemas.microsoft.com/office/2007/relationships/hdphoto"/><Relationship Id="rId2" Target="../media/image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3" Target="../media/hdphoto7.wdp" Type="http://schemas.microsoft.com/office/2007/relationships/hdphoto"/><Relationship Id="rId2" Target="../media/image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3" Target="../media/hdphoto8.wdp" Type="http://schemas.microsoft.com/office/2007/relationships/hdphoto"/><Relationship Id="rId2" Target="../media/image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아두이노 - 위키백과, 우리 모두의 백과사전" id="1026" name="Picture 2">
            <a:hlinkClick r:id="rId2"/>
          </p:cNvPr>
          <p:cNvPicPr>
            <a:picLocks noChangeArrowheads="1"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3174" y="1402212"/>
            <a:ext cx="4341780" cy="292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63870" y="4422710"/>
            <a:ext cx="4008341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/>
              <a:t>Products – SOFTWARE – </a:t>
            </a:r>
            <a:r>
              <a:rPr altLang="ko-KR" dirty="0" err="1" lang="en-US" smtClean="0"/>
              <a:t>Aduino</a:t>
            </a:r>
            <a:r>
              <a:rPr altLang="ko-KR" dirty="0" lang="en-US" smtClean="0"/>
              <a:t> IDE</a:t>
            </a:r>
            <a:endParaRPr dirty="0" lang="ko-KR"/>
          </a:p>
        </p:txBody>
      </p:sp>
    </p:spTree>
    <p:extLst>
      <p:ext uri="{BB962C8B-B14F-4D97-AF65-F5344CB8AC3E}">
        <p14:creationId xmlns:p14="http://schemas.microsoft.com/office/powerpoint/2010/main" val="667824132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129" l="2413" r="97587" t="1887">
                        <a14:foregroundMark x1="39812" x2="39812" y1="64441" y2="64441"/>
                        <a14:foregroundMark x1="40751" x2="41019" y1="61248" y2="93179"/>
                        <a14:foregroundMark x1="45308" x2="70643" y1="97533" y2="97242"/>
                        <a14:foregroundMark x1="42761" x2="46783" y1="97388" y2="97097"/>
                        <a14:foregroundMark x1="41823" x2="42895" y1="96807" y2="97242"/>
                        <a14:foregroundMark x1="71046" x2="71582" y1="97388" y2="96517"/>
                        <a14:foregroundMark x1="17828" x2="32574" y1="63570" y2="637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466" y="1091681"/>
            <a:ext cx="5414952" cy="5001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86" y="121254"/>
            <a:ext cx="7199407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tone() 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함수를 이용하여 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‘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도레미파솔라시도</a:t>
            </a:r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’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출력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662475"/>
            <a:ext cx="7156580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7255393" y="1816494"/>
            <a:ext cx="1944591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(7, OUTPUT);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262,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294,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330,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349,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392,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440,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tone</a:t>
            </a:r>
            <a:r>
              <a:rPr dirty="0" lang="ko-KR" sz="1200"/>
              <a:t>(7, 494,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</a:t>
            </a:r>
          </a:p>
          <a:p>
            <a:r>
              <a:rPr dirty="0" lang="ko-KR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4315813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986" y="121254"/>
            <a:ext cx="2544286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긴 악보의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연주곡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2600272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129" l="2413" r="97587" t="1887">
                        <a14:foregroundMark x1="39812" x2="39812" y1="64441" y2="64441"/>
                        <a14:foregroundMark x1="40751" x2="41019" y1="61248" y2="93179"/>
                        <a14:foregroundMark x1="45308" x2="70643" y1="97533" y2="97242"/>
                        <a14:foregroundMark x1="42761" x2="46783" y1="97388" y2="97097"/>
                        <a14:foregroundMark x1="41823" x2="42895" y1="96807" y2="97242"/>
                        <a14:foregroundMark x1="71046" x2="71582" y1="97388" y2="96517"/>
                        <a14:foregroundMark x1="17828" x2="32574" y1="63570" y2="637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041" y="1138334"/>
            <a:ext cx="5414952" cy="500120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837853" y="2155315"/>
            <a:ext cx="5937380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err="1" lang="ko-KR" sz="1200"/>
              <a:t>const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piezo</a:t>
            </a:r>
            <a:r>
              <a:rPr dirty="0" lang="ko-KR" sz="1200"/>
              <a:t> = 7;</a:t>
            </a:r>
          </a:p>
          <a:p>
            <a:r>
              <a:rPr dirty="0" err="1" lang="ko-KR" sz="1200"/>
              <a:t>char</a:t>
            </a:r>
            <a:r>
              <a:rPr dirty="0" lang="ko-KR" sz="1200"/>
              <a:t> </a:t>
            </a:r>
            <a:r>
              <a:rPr dirty="0" err="1" lang="ko-KR" sz="1200"/>
              <a:t>code</a:t>
            </a:r>
            <a:r>
              <a:rPr dirty="0" lang="ko-KR" sz="1200"/>
              <a:t>[] = {'C', '</a:t>
            </a:r>
            <a:r>
              <a:rPr dirty="0" err="1" lang="ko-KR" sz="1200"/>
              <a:t>D</a:t>
            </a:r>
            <a:r>
              <a:rPr dirty="0" lang="ko-KR" sz="1200"/>
              <a:t>', '</a:t>
            </a:r>
            <a:r>
              <a:rPr dirty="0" err="1" lang="ko-KR" sz="1200"/>
              <a:t>E</a:t>
            </a:r>
            <a:r>
              <a:rPr dirty="0" lang="ko-KR" sz="1200"/>
              <a:t>', '</a:t>
            </a:r>
            <a:r>
              <a:rPr dirty="0" err="1" lang="ko-KR" sz="1200"/>
              <a:t>F</a:t>
            </a:r>
            <a:r>
              <a:rPr dirty="0" lang="ko-KR" sz="1200"/>
              <a:t>', '</a:t>
            </a:r>
            <a:r>
              <a:rPr dirty="0" err="1" lang="ko-KR" sz="1200"/>
              <a:t>G</a:t>
            </a:r>
            <a:r>
              <a:rPr dirty="0" lang="ko-KR" sz="1200"/>
              <a:t>', '</a:t>
            </a:r>
            <a:r>
              <a:rPr dirty="0" err="1" lang="ko-KR" sz="1200"/>
              <a:t>A</a:t>
            </a:r>
            <a:r>
              <a:rPr dirty="0" lang="ko-KR" sz="1200"/>
              <a:t>', '</a:t>
            </a:r>
            <a:r>
              <a:rPr dirty="0" err="1" lang="ko-KR" sz="1200"/>
              <a:t>B</a:t>
            </a:r>
            <a:r>
              <a:rPr dirty="0" lang="ko-KR" sz="1200"/>
              <a:t>'};</a:t>
            </a:r>
          </a:p>
          <a:p>
            <a:r>
              <a:rPr dirty="0" err="1" lang="ko-KR" sz="1200"/>
              <a:t>unsigned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freq</a:t>
            </a:r>
            <a:r>
              <a:rPr dirty="0" lang="ko-KR" sz="1200"/>
              <a:t>[] = {262, 294, 330, 349, 392, 440, 494};</a:t>
            </a:r>
          </a:p>
          <a:p>
            <a:r>
              <a:rPr dirty="0" err="1" lang="ko-KR" sz="1200"/>
              <a:t>char</a:t>
            </a:r>
            <a:r>
              <a:rPr dirty="0" lang="ko-KR" sz="1200"/>
              <a:t> </a:t>
            </a:r>
            <a:r>
              <a:rPr dirty="0" err="1" lang="ko-KR" sz="1200"/>
              <a:t>mData</a:t>
            </a:r>
            <a:r>
              <a:rPr dirty="0" lang="ko-KR" sz="1200"/>
              <a:t>[] = "</a:t>
            </a:r>
            <a:r>
              <a:rPr dirty="0" err="1" lang="ko-KR" sz="1200"/>
              <a:t>CCGGAAGpFFEEDCCpGGFFEEDpGGFFEEDpCCGGAAGpFFEEDDCp</a:t>
            </a:r>
            <a:r>
              <a:rPr dirty="0" lang="ko-KR" sz="1200"/>
              <a:t>";</a:t>
            </a:r>
          </a:p>
          <a:p>
            <a:r>
              <a:rPr dirty="0" err="1" lang="ko-KR" sz="1200"/>
              <a:t>const</a:t>
            </a:r>
            <a:r>
              <a:rPr dirty="0" lang="ko-KR" sz="1200"/>
              <a:t> </a:t>
            </a:r>
            <a:r>
              <a:rPr dirty="0" err="1" lang="ko-KR" sz="1200"/>
              <a:t>byte</a:t>
            </a:r>
            <a:r>
              <a:rPr dirty="0" lang="ko-KR" sz="1200"/>
              <a:t> </a:t>
            </a:r>
            <a:r>
              <a:rPr dirty="0" err="1" lang="ko-KR" sz="1200"/>
              <a:t>mSize</a:t>
            </a:r>
            <a:r>
              <a:rPr dirty="0" lang="ko-KR" sz="1200"/>
              <a:t> = </a:t>
            </a:r>
            <a:r>
              <a:rPr dirty="0" err="1" lang="ko-KR" sz="1200"/>
              <a:t>sizeof</a:t>
            </a:r>
            <a:r>
              <a:rPr dirty="0" lang="ko-KR" sz="1200"/>
              <a:t>(</a:t>
            </a:r>
            <a:r>
              <a:rPr dirty="0" err="1" lang="ko-KR" sz="1200"/>
              <a:t>mData</a:t>
            </a:r>
            <a:r>
              <a:rPr dirty="0" lang="ko-KR" sz="1200"/>
              <a:t>);</a:t>
            </a:r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 </a:t>
            </a:r>
            <a:r>
              <a:rPr dirty="0" err="1" lang="ko-KR" sz="1200"/>
              <a:t>pinMode</a:t>
            </a:r>
            <a:r>
              <a:rPr dirty="0" lang="ko-KR" sz="1200"/>
              <a:t>(</a:t>
            </a:r>
            <a:r>
              <a:rPr dirty="0" err="1" lang="ko-KR" sz="1200"/>
              <a:t>piezo</a:t>
            </a:r>
            <a:r>
              <a:rPr dirty="0" lang="ko-KR" sz="1200"/>
              <a:t>, OUTPUT);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playT</a:t>
            </a:r>
            <a:r>
              <a:rPr dirty="0" lang="ko-KR" sz="1200"/>
              <a:t> = 200;</a:t>
            </a:r>
          </a:p>
          <a:p>
            <a:r>
              <a:rPr dirty="0" lang="ko-KR" sz="1200"/>
              <a:t>  for(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m</a:t>
            </a:r>
            <a:r>
              <a:rPr dirty="0" lang="ko-KR" sz="1200"/>
              <a:t>=0; </a:t>
            </a:r>
            <a:r>
              <a:rPr dirty="0" err="1" lang="ko-KR" sz="1200"/>
              <a:t>m</a:t>
            </a:r>
            <a:r>
              <a:rPr dirty="0" lang="ko-KR" sz="1200"/>
              <a:t>&lt;</a:t>
            </a:r>
            <a:r>
              <a:rPr dirty="0" err="1" lang="ko-KR" sz="1200"/>
              <a:t>mSize</a:t>
            </a:r>
            <a:r>
              <a:rPr dirty="0" lang="ko-KR" sz="1200"/>
              <a:t>; </a:t>
            </a:r>
            <a:r>
              <a:rPr dirty="0" err="1" lang="ko-KR" sz="1200"/>
              <a:t>m</a:t>
            </a:r>
            <a:r>
              <a:rPr dirty="0" lang="ko-KR" sz="1200"/>
              <a:t>++) {</a:t>
            </a:r>
          </a:p>
          <a:p>
            <a:r>
              <a:rPr dirty="0" lang="ko-KR" sz="1200"/>
              <a:t>    for(</a:t>
            </a:r>
            <a:r>
              <a:rPr dirty="0" err="1" lang="ko-KR" sz="1200"/>
              <a:t>int</a:t>
            </a:r>
            <a:r>
              <a:rPr dirty="0" lang="ko-KR" sz="1200"/>
              <a:t> k=0; k&lt;7; k++) {</a:t>
            </a:r>
          </a:p>
          <a:p>
            <a:r>
              <a:rPr dirty="0" lang="ko-KR" sz="1200"/>
              <a:t>      if(</a:t>
            </a:r>
            <a:r>
              <a:rPr dirty="0" err="1" lang="ko-KR" sz="1200"/>
              <a:t>mData</a:t>
            </a:r>
            <a:r>
              <a:rPr dirty="0" lang="ko-KR" sz="1200"/>
              <a:t>[</a:t>
            </a:r>
            <a:r>
              <a:rPr dirty="0" err="1" lang="ko-KR" sz="1200"/>
              <a:t>m</a:t>
            </a:r>
            <a:r>
              <a:rPr dirty="0" lang="ko-KR" sz="1200"/>
              <a:t>] == </a:t>
            </a:r>
            <a:r>
              <a:rPr dirty="0" err="1" lang="ko-KR" sz="1200"/>
              <a:t>code</a:t>
            </a:r>
            <a:r>
              <a:rPr dirty="0" lang="ko-KR" sz="1200"/>
              <a:t>[k]) </a:t>
            </a:r>
            <a:r>
              <a:rPr dirty="0" err="1" lang="ko-KR" sz="1200"/>
              <a:t>tone</a:t>
            </a:r>
            <a:r>
              <a:rPr dirty="0" lang="ko-KR" sz="1200"/>
              <a:t>(</a:t>
            </a:r>
            <a:r>
              <a:rPr dirty="0" err="1" lang="ko-KR" sz="1200"/>
              <a:t>piezo</a:t>
            </a:r>
            <a:r>
              <a:rPr dirty="0" lang="ko-KR" sz="1200"/>
              <a:t>, </a:t>
            </a:r>
            <a:r>
              <a:rPr dirty="0" err="1" lang="ko-KR" sz="1200"/>
              <a:t>freq</a:t>
            </a:r>
            <a:r>
              <a:rPr dirty="0" lang="ko-KR" sz="1200"/>
              <a:t>[k], </a:t>
            </a:r>
            <a:r>
              <a:rPr dirty="0" err="1" lang="ko-KR" sz="1200"/>
              <a:t>playT</a:t>
            </a:r>
            <a:r>
              <a:rPr dirty="0" lang="ko-KR" sz="1200"/>
              <a:t>);</a:t>
            </a:r>
          </a:p>
          <a:p>
            <a:r>
              <a:rPr dirty="0" lang="ko-KR" sz="1200"/>
              <a:t>    }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delay</a:t>
            </a:r>
            <a:r>
              <a:rPr dirty="0" lang="ko-KR" sz="1200"/>
              <a:t>(</a:t>
            </a:r>
            <a:r>
              <a:rPr dirty="0" err="1" lang="ko-KR" sz="1200"/>
              <a:t>playT</a:t>
            </a:r>
            <a:r>
              <a:rPr dirty="0" lang="ko-KR" sz="1200"/>
              <a:t>);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noTone</a:t>
            </a:r>
            <a:r>
              <a:rPr dirty="0" lang="ko-KR" sz="1200"/>
              <a:t>(</a:t>
            </a:r>
            <a:r>
              <a:rPr dirty="0" err="1" lang="ko-KR" sz="1200"/>
              <a:t>piezo</a:t>
            </a:r>
            <a:r>
              <a:rPr dirty="0" lang="ko-KR" sz="1200"/>
              <a:t>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(2000);</a:t>
            </a:r>
          </a:p>
          <a:p>
            <a:r>
              <a:rPr dirty="0" lang="ko-KR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6384719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3571" l="383" r="97063" t="3000">
                        <a14:foregroundMark x1="30907" x2="30907" y1="7000" y2="7000"/>
                        <a14:foregroundMark x1="30907" x2="30651" y1="7000" y2="7714"/>
                        <a14:foregroundMark x1="85824" x2="86207" y1="7429" y2="7857"/>
                        <a14:foregroundMark x1="86079" x2="86079" y1="45714" y2="45714"/>
                        <a14:foregroundMark x1="85313" x2="85313" y1="46143" y2="46143"/>
                        <a14:foregroundMark x1="78161" x2="31034" y1="46857" y2="465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1771" y="662475"/>
            <a:ext cx="4446855" cy="3975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86" y="121254"/>
            <a:ext cx="3159839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버튼으로 음 출력하기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32792" y="662475"/>
            <a:ext cx="3215825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783973" y="4835249"/>
            <a:ext cx="4173894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PIEZO_BUZZER 2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(8, INPUT_PULLUP);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(){</a:t>
            </a:r>
          </a:p>
          <a:p>
            <a:r>
              <a:rPr dirty="0" lang="ko-KR" sz="1200"/>
              <a:t>  if(</a:t>
            </a:r>
            <a:r>
              <a:rPr dirty="0" err="1" lang="ko-KR" sz="1200"/>
              <a:t>digitalRead</a:t>
            </a:r>
            <a:r>
              <a:rPr dirty="0" lang="ko-KR" sz="1200"/>
              <a:t>(8)== 0) </a:t>
            </a:r>
            <a:r>
              <a:rPr dirty="0" err="1" lang="ko-KR" sz="1200"/>
              <a:t>tone</a:t>
            </a:r>
            <a:r>
              <a:rPr dirty="0" lang="ko-KR" sz="1200"/>
              <a:t>(PIEZO_BUZZER, 262, 1000);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</a:t>
            </a:r>
            <a:r>
              <a:rPr dirty="0" err="1" lang="ko-KR" sz="1200"/>
              <a:t>noTone</a:t>
            </a:r>
            <a:r>
              <a:rPr dirty="0" lang="ko-KR" sz="1200"/>
              <a:t>(PIEZO_BUZZER);</a:t>
            </a:r>
          </a:p>
          <a:p>
            <a:r>
              <a:rPr dirty="0" lang="ko-KR" sz="1200"/>
              <a:t>}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b="97309" l="1192" r="99106" t="1416">
                        <a14:foregroundMark x1="94188" x2="94188" y1="4108" y2="4108"/>
                        <a14:foregroundMark x1="92846" x2="32489" y1="3966" y2="3399"/>
                        <a14:foregroundMark x1="30402" x2="93890" y1="42068" y2="422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16765" y="767095"/>
            <a:ext cx="3802509" cy="4000852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4042120" y="858419"/>
            <a:ext cx="0" cy="359228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b="96974" l="4697" r="97651" t="144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39102" y="754921"/>
            <a:ext cx="4552898" cy="3905700"/>
          </a:xfrm>
          <a:prstGeom prst="rect">
            <a:avLst/>
          </a:prstGeom>
        </p:spPr>
      </p:pic>
      <p:cxnSp>
        <p:nvCxnSpPr>
          <p:cNvPr id="16" name="직선 연결선 15"/>
          <p:cNvCxnSpPr/>
          <p:nvPr/>
        </p:nvCxnSpPr>
        <p:spPr>
          <a:xfrm>
            <a:off x="7830348" y="858419"/>
            <a:ext cx="0" cy="359228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503326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8116" l="2782" r="94298" t="2423">
                        <a14:foregroundMark x1="8623" x2="27260" y1="66083" y2="66083"/>
                        <a14:foregroundMark x1="36300" x2="35744" y1="41184" y2="93271"/>
                        <a14:foregroundMark x1="38248" x2="64256" y1="96097" y2="96231"/>
                        <a14:foregroundMark x1="65925" x2="66064" y1="95828" y2="91925"/>
                        <a14:foregroundMark x1="45480" x2="45480" y1="34186" y2="49260"/>
                        <a14:foregroundMark x1="59110" x2="59527" y1="51413" y2="54105"/>
                        <a14:foregroundMark x1="47983" x2="58275" y1="50336" y2="50202"/>
                      </a14:backgroundRemoval>
                    </a14:imgEffect>
                  </a14:imgLayer>
                </a14:imgProps>
              </a:ext>
            </a:extLst>
          </a:blip>
          <a:srcRect b="1878" l="3790" r="6527" t="2429"/>
          <a:stretch/>
        </p:blipFill>
        <p:spPr>
          <a:xfrm>
            <a:off x="1230283" y="974264"/>
            <a:ext cx="5087390" cy="5609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86" y="121254"/>
            <a:ext cx="613501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스위치와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부저를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이용한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전자피아노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662475"/>
            <a:ext cx="609322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6672349" y="1829596"/>
            <a:ext cx="4627022" cy="4339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PIEZO_BUZZER 3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SW1 12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SW2 11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SW3 10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SW4 9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SW5 8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(SW1,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(SW2,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(SW3,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(SW4,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(SW5, INPUT_PULLUP);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(){</a:t>
            </a:r>
          </a:p>
          <a:p>
            <a:r>
              <a:rPr dirty="0" lang="ko-KR" sz="1200"/>
              <a:t>  if(</a:t>
            </a:r>
            <a:r>
              <a:rPr dirty="0" err="1" lang="ko-KR" sz="1200"/>
              <a:t>digitalRead</a:t>
            </a:r>
            <a:r>
              <a:rPr dirty="0" lang="ko-KR" sz="1200"/>
              <a:t>(SW1)== 0) </a:t>
            </a:r>
            <a:r>
              <a:rPr dirty="0" err="1" lang="ko-KR" sz="1200"/>
              <a:t>tone</a:t>
            </a:r>
            <a:r>
              <a:rPr dirty="0" lang="ko-KR" sz="1200"/>
              <a:t>(PIEZO_BUZZER, </a:t>
            </a:r>
            <a:r>
              <a:rPr dirty="0" lang="ko-KR" smtClean="0" sz="1200"/>
              <a:t>26</a:t>
            </a:r>
            <a:r>
              <a:rPr altLang="ko-KR" dirty="0" lang="en-US" smtClean="0" sz="1200"/>
              <a:t>2</a:t>
            </a:r>
            <a:r>
              <a:rPr dirty="0" lang="ko-KR" smtClean="0" sz="1200"/>
              <a:t>, </a:t>
            </a:r>
            <a:r>
              <a:rPr altLang="ko-KR" dirty="0" lang="en-US" smtClean="0" sz="1200"/>
              <a:t>1000</a:t>
            </a:r>
            <a:r>
              <a:rPr dirty="0" lang="ko-KR" smtClean="0" sz="1200"/>
              <a:t>);</a:t>
            </a:r>
            <a:endParaRPr dirty="0" lang="ko-KR" sz="1200"/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digitalRead</a:t>
            </a:r>
            <a:r>
              <a:rPr dirty="0" lang="ko-KR" sz="1200"/>
              <a:t>(SW2)== 0) </a:t>
            </a:r>
            <a:r>
              <a:rPr dirty="0" err="1" lang="ko-KR" sz="1200"/>
              <a:t>tone</a:t>
            </a:r>
            <a:r>
              <a:rPr dirty="0" lang="ko-KR" sz="1200"/>
              <a:t>(PIEZO_BUZZER, </a:t>
            </a:r>
            <a:r>
              <a:rPr dirty="0" lang="ko-KR" smtClean="0" sz="1200"/>
              <a:t>29</a:t>
            </a:r>
            <a:r>
              <a:rPr altLang="ko-KR" dirty="0" lang="en-US" smtClean="0" sz="1200"/>
              <a:t>4</a:t>
            </a:r>
            <a:r>
              <a:rPr dirty="0" lang="ko-KR" smtClean="0" sz="1200"/>
              <a:t>, </a:t>
            </a:r>
            <a:r>
              <a:rPr altLang="ko-KR" dirty="0" lang="en-US" smtClean="0" sz="1200"/>
              <a:t>1000</a:t>
            </a:r>
            <a:r>
              <a:rPr dirty="0" lang="ko-KR" smtClean="0" sz="1200"/>
              <a:t>);</a:t>
            </a:r>
            <a:endParaRPr dirty="0" lang="ko-KR" sz="1200"/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digitalRead</a:t>
            </a:r>
            <a:r>
              <a:rPr dirty="0" lang="ko-KR" sz="1200"/>
              <a:t>(SW3)== 0) </a:t>
            </a:r>
            <a:r>
              <a:rPr dirty="0" err="1" lang="ko-KR" sz="1200"/>
              <a:t>tone</a:t>
            </a:r>
            <a:r>
              <a:rPr dirty="0" lang="ko-KR" sz="1200"/>
              <a:t>(PIEZO_BUZZER, </a:t>
            </a:r>
            <a:r>
              <a:rPr dirty="0" lang="ko-KR" smtClean="0" sz="1200"/>
              <a:t>3</a:t>
            </a:r>
            <a:r>
              <a:rPr altLang="ko-KR" dirty="0" lang="en-US" smtClean="0" sz="1200"/>
              <a:t>30</a:t>
            </a:r>
            <a:r>
              <a:rPr dirty="0" lang="ko-KR" smtClean="0" sz="1200"/>
              <a:t>, </a:t>
            </a:r>
            <a:r>
              <a:rPr altLang="ko-KR" dirty="0" lang="en-US" smtClean="0" sz="1200"/>
              <a:t>1000</a:t>
            </a:r>
            <a:r>
              <a:rPr dirty="0" lang="ko-KR" smtClean="0" sz="1200"/>
              <a:t>);</a:t>
            </a:r>
            <a:endParaRPr dirty="0" lang="ko-KR" sz="1200"/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digitalRead</a:t>
            </a:r>
            <a:r>
              <a:rPr dirty="0" lang="ko-KR" sz="1200"/>
              <a:t>(SW4)== 0) </a:t>
            </a:r>
            <a:r>
              <a:rPr dirty="0" err="1" lang="ko-KR" sz="1200"/>
              <a:t>tone</a:t>
            </a:r>
            <a:r>
              <a:rPr dirty="0" lang="ko-KR" sz="1200"/>
              <a:t>(PIEZO_BUZZER, 349, </a:t>
            </a:r>
            <a:r>
              <a:rPr altLang="ko-KR" dirty="0" lang="en-US" smtClean="0" sz="1200"/>
              <a:t>1000</a:t>
            </a:r>
            <a:r>
              <a:rPr dirty="0" lang="ko-KR" smtClean="0" sz="1200"/>
              <a:t>);</a:t>
            </a:r>
            <a:endParaRPr dirty="0" lang="ko-KR" sz="1200"/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if(</a:t>
            </a:r>
            <a:r>
              <a:rPr dirty="0" err="1" lang="ko-KR" sz="1200"/>
              <a:t>digitalRead</a:t>
            </a:r>
            <a:r>
              <a:rPr dirty="0" lang="ko-KR" sz="1200"/>
              <a:t>(SW5)== 0) </a:t>
            </a:r>
            <a:r>
              <a:rPr dirty="0" err="1" lang="ko-KR" sz="1200"/>
              <a:t>tone</a:t>
            </a:r>
            <a:r>
              <a:rPr dirty="0" lang="ko-KR" sz="1200"/>
              <a:t>(PIEZO_BUZZER, </a:t>
            </a:r>
            <a:r>
              <a:rPr dirty="0" lang="ko-KR" smtClean="0" sz="1200"/>
              <a:t>39</a:t>
            </a:r>
            <a:r>
              <a:rPr altLang="ko-KR" dirty="0" lang="en-US" smtClean="0" sz="1200"/>
              <a:t>2</a:t>
            </a:r>
            <a:r>
              <a:rPr dirty="0" lang="ko-KR" smtClean="0" sz="1200"/>
              <a:t>, </a:t>
            </a:r>
            <a:r>
              <a:rPr altLang="ko-KR" dirty="0" lang="en-US" smtClean="0" sz="1200"/>
              <a:t>1000</a:t>
            </a:r>
            <a:r>
              <a:rPr dirty="0" lang="ko-KR" smtClean="0" sz="1200"/>
              <a:t>);</a:t>
            </a:r>
            <a:endParaRPr dirty="0" lang="ko-KR" sz="1200"/>
          </a:p>
          <a:p>
            <a:r>
              <a:rPr dirty="0" lang="ko-KR" sz="1200"/>
              <a:t>  </a:t>
            </a:r>
            <a:r>
              <a:rPr dirty="0" err="1" lang="ko-KR" sz="1200"/>
              <a:t>else</a:t>
            </a:r>
            <a:r>
              <a:rPr dirty="0" lang="ko-KR" sz="1200"/>
              <a:t> </a:t>
            </a:r>
            <a:r>
              <a:rPr dirty="0" err="1" lang="ko-KR" sz="1200"/>
              <a:t>noTone</a:t>
            </a:r>
            <a:r>
              <a:rPr dirty="0" lang="ko-KR" sz="1200"/>
              <a:t>(PIEZO_BUZZER);</a:t>
            </a:r>
          </a:p>
          <a:p>
            <a:r>
              <a:rPr dirty="0" lang="ko-KR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6557689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97493" y="1596995"/>
            <a:ext cx="7402286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err="1" lang="ko-KR" sz="1200"/>
              <a:t>const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buttonPins</a:t>
            </a:r>
            <a:r>
              <a:rPr dirty="0" lang="ko-KR" sz="1200"/>
              <a:t>[] = {2, 3, 4, 5, 6, 7, 8}; // </a:t>
            </a:r>
            <a:r>
              <a:rPr dirty="0" err="1" lang="ko-KR" sz="1200"/>
              <a:t>아두이노에</a:t>
            </a:r>
            <a:r>
              <a:rPr dirty="0" lang="ko-KR" sz="1200"/>
              <a:t> 연결된 버튼 핀 번호 (원하는 만큼 추가/삭제)</a:t>
            </a:r>
          </a:p>
          <a:p>
            <a:r>
              <a:rPr dirty="0" err="1" lang="ko-KR" sz="1200"/>
              <a:t>const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buzzerPin</a:t>
            </a:r>
            <a:r>
              <a:rPr dirty="0" lang="ko-KR" sz="1200"/>
              <a:t> = 10; // </a:t>
            </a:r>
            <a:r>
              <a:rPr dirty="0" err="1" lang="ko-KR" sz="1200"/>
              <a:t>피에조</a:t>
            </a:r>
            <a:r>
              <a:rPr dirty="0" lang="ko-KR" sz="1200"/>
              <a:t> </a:t>
            </a:r>
            <a:r>
              <a:rPr dirty="0" err="1" lang="ko-KR" sz="1200"/>
              <a:t>부저가</a:t>
            </a:r>
            <a:r>
              <a:rPr dirty="0" lang="ko-KR" sz="1200"/>
              <a:t> 연결된 핀 번호</a:t>
            </a:r>
          </a:p>
          <a:p>
            <a:endParaRPr dirty="0" lang="ko-KR" sz="1200"/>
          </a:p>
          <a:p>
            <a:r>
              <a:rPr dirty="0" lang="ko-KR" sz="1200"/>
              <a:t>// 피아노 건반에 해당하는 주파수 (MIDI 노트 번호를 이용한 주파수 계산 또는 직접 지정)</a:t>
            </a:r>
          </a:p>
          <a:p>
            <a:r>
              <a:rPr dirty="0" lang="ko-KR" sz="1200"/>
              <a:t>// 여기서는 4옥타브 도부터 시까지의 주파수를 예시로 사용합니다.</a:t>
            </a:r>
          </a:p>
          <a:p>
            <a:r>
              <a:rPr dirty="0" lang="ko-KR" sz="1200"/>
              <a:t>// 더 많은 음을 원한다면 추가하세요.</a:t>
            </a:r>
          </a:p>
          <a:p>
            <a:r>
              <a:rPr dirty="0" err="1" lang="ko-KR" sz="1200"/>
              <a:t>const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notes</a:t>
            </a:r>
            <a:r>
              <a:rPr dirty="0" lang="ko-KR" sz="1200"/>
              <a:t>[] = {</a:t>
            </a:r>
          </a:p>
          <a:p>
            <a:r>
              <a:rPr dirty="0" lang="ko-KR" sz="1200"/>
              <a:t>  262, // C4 (도)</a:t>
            </a:r>
          </a:p>
          <a:p>
            <a:r>
              <a:rPr dirty="0" lang="ko-KR" sz="1200"/>
              <a:t>  294, // D4 (레)</a:t>
            </a:r>
          </a:p>
          <a:p>
            <a:r>
              <a:rPr dirty="0" lang="ko-KR" sz="1200"/>
              <a:t>  330, // E4 (미)</a:t>
            </a:r>
          </a:p>
          <a:p>
            <a:r>
              <a:rPr dirty="0" lang="ko-KR" sz="1200"/>
              <a:t>  349, // F4 (파)</a:t>
            </a:r>
          </a:p>
          <a:p>
            <a:r>
              <a:rPr dirty="0" lang="ko-KR" sz="1200"/>
              <a:t>  392, // G4 (솔)</a:t>
            </a:r>
          </a:p>
          <a:p>
            <a:r>
              <a:rPr dirty="0" lang="ko-KR" sz="1200"/>
              <a:t>  440, // A4 (라)</a:t>
            </a:r>
          </a:p>
          <a:p>
            <a:r>
              <a:rPr dirty="0" lang="ko-KR" sz="1200"/>
              <a:t>  494, // B4 (시)</a:t>
            </a:r>
          </a:p>
          <a:p>
            <a:r>
              <a:rPr dirty="0" lang="ko-KR" sz="1200"/>
              <a:t>};</a:t>
            </a:r>
          </a:p>
          <a:p>
            <a:endParaRPr dirty="0" lang="ko-KR" sz="1200"/>
          </a:p>
          <a:p>
            <a:r>
              <a:rPr dirty="0" err="1" lang="ko-KR" sz="1200"/>
              <a:t>const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numButtons</a:t>
            </a:r>
            <a:r>
              <a:rPr dirty="0" lang="ko-KR" sz="1200"/>
              <a:t> = </a:t>
            </a:r>
            <a:r>
              <a:rPr dirty="0" err="1" lang="ko-KR" sz="1200"/>
              <a:t>sizeof</a:t>
            </a:r>
            <a:r>
              <a:rPr dirty="0" lang="ko-KR" sz="1200"/>
              <a:t>(</a:t>
            </a:r>
            <a:r>
              <a:rPr dirty="0" err="1" lang="ko-KR" sz="1200"/>
              <a:t>buttonPins</a:t>
            </a:r>
            <a:r>
              <a:rPr dirty="0" lang="ko-KR" sz="1200"/>
              <a:t>) / </a:t>
            </a:r>
            <a:r>
              <a:rPr dirty="0" err="1" lang="ko-KR" sz="1200"/>
              <a:t>sizeof</a:t>
            </a:r>
            <a:r>
              <a:rPr dirty="0" lang="ko-KR" sz="1200"/>
              <a:t>(</a:t>
            </a:r>
            <a:r>
              <a:rPr dirty="0" err="1" lang="ko-KR" sz="1200"/>
              <a:t>buttonPins</a:t>
            </a:r>
            <a:r>
              <a:rPr dirty="0" lang="ko-KR" sz="1200"/>
              <a:t>[0]); // 버튼 개수 자동 계산</a:t>
            </a:r>
          </a:p>
          <a:p>
            <a:endParaRPr dirty="0" lang="ko-KR" sz="1200"/>
          </a:p>
        </p:txBody>
      </p:sp>
      <p:sp>
        <p:nvSpPr>
          <p:cNvPr id="6" name="TextBox 5"/>
          <p:cNvSpPr txBox="1"/>
          <p:nvPr/>
        </p:nvSpPr>
        <p:spPr>
          <a:xfrm>
            <a:off x="55986" y="121254"/>
            <a:ext cx="613501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스위치와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부저를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이용한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전자피아노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0" y="662475"/>
            <a:ext cx="609322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37612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66662" y="967724"/>
            <a:ext cx="6133322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Serial.begin</a:t>
            </a:r>
            <a:r>
              <a:rPr dirty="0" lang="ko-KR" sz="1200"/>
              <a:t>(9600); // 시리얼 모니터 초기화 (디버깅용)</a:t>
            </a:r>
          </a:p>
          <a:p>
            <a:endParaRPr dirty="0" lang="ko-KR" sz="1200"/>
          </a:p>
          <a:p>
            <a:r>
              <a:rPr dirty="0" lang="ko-KR" sz="1200"/>
              <a:t>  for (</a:t>
            </a:r>
            <a:r>
              <a:rPr dirty="0" err="1" lang="ko-KR" sz="1200"/>
              <a:t>int</a:t>
            </a:r>
            <a:r>
              <a:rPr dirty="0" lang="ko-KR" sz="1200"/>
              <a:t> i = 0; i &lt; </a:t>
            </a:r>
            <a:r>
              <a:rPr dirty="0" err="1" lang="ko-KR" sz="1200"/>
              <a:t>numButtons</a:t>
            </a:r>
            <a:r>
              <a:rPr dirty="0" lang="ko-KR" sz="1200"/>
              <a:t>; i++) {</a:t>
            </a:r>
          </a:p>
          <a:p>
            <a:r>
              <a:rPr dirty="0" lang="ko-KR" sz="1200"/>
              <a:t>    </a:t>
            </a:r>
            <a:r>
              <a:rPr dirty="0" err="1" lang="ko-KR" sz="1200"/>
              <a:t>pinMode</a:t>
            </a:r>
            <a:r>
              <a:rPr dirty="0" lang="ko-KR" sz="1200"/>
              <a:t>(</a:t>
            </a:r>
            <a:r>
              <a:rPr dirty="0" err="1" lang="ko-KR" sz="1200"/>
              <a:t>buttonPins</a:t>
            </a:r>
            <a:r>
              <a:rPr dirty="0" lang="ko-KR" sz="1200"/>
              <a:t>[i], INPUT_PULLUP); // 버튼 핀을 내부 </a:t>
            </a:r>
            <a:r>
              <a:rPr dirty="0" err="1" lang="ko-KR" sz="1200"/>
              <a:t>풀업</a:t>
            </a:r>
            <a:r>
              <a:rPr dirty="0" lang="ko-KR" sz="1200"/>
              <a:t> 저항 모드로 설정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</a:t>
            </a:r>
            <a:r>
              <a:rPr dirty="0" err="1" lang="ko-KR" sz="1200"/>
              <a:t>buzzerPin</a:t>
            </a:r>
            <a:r>
              <a:rPr dirty="0" lang="ko-KR" sz="1200"/>
              <a:t>, OUTPUT); // </a:t>
            </a:r>
            <a:r>
              <a:rPr dirty="0" err="1" lang="ko-KR" sz="1200"/>
              <a:t>피에조</a:t>
            </a:r>
            <a:r>
              <a:rPr dirty="0" lang="ko-KR" sz="1200"/>
              <a:t> </a:t>
            </a:r>
            <a:r>
              <a:rPr dirty="0" err="1" lang="ko-KR" sz="1200"/>
              <a:t>부저</a:t>
            </a:r>
            <a:r>
              <a:rPr dirty="0" lang="ko-KR" sz="1200"/>
              <a:t> 핀을 출력 모드로 설정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 {</a:t>
            </a:r>
          </a:p>
          <a:p>
            <a:r>
              <a:rPr dirty="0" lang="ko-KR" sz="1200"/>
              <a:t>  for (</a:t>
            </a:r>
            <a:r>
              <a:rPr dirty="0" err="1" lang="ko-KR" sz="1200"/>
              <a:t>int</a:t>
            </a:r>
            <a:r>
              <a:rPr dirty="0" lang="ko-KR" sz="1200"/>
              <a:t> i = 0; i &lt; </a:t>
            </a:r>
            <a:r>
              <a:rPr dirty="0" err="1" lang="ko-KR" sz="1200"/>
              <a:t>numButtons</a:t>
            </a:r>
            <a:r>
              <a:rPr dirty="0" lang="ko-KR" sz="1200"/>
              <a:t>; i++) {</a:t>
            </a:r>
          </a:p>
          <a:p>
            <a:r>
              <a:rPr dirty="0" lang="ko-KR" sz="1200"/>
              <a:t>    // 버튼이 눌렸는지 확인 (내부 </a:t>
            </a:r>
            <a:r>
              <a:rPr dirty="0" err="1" lang="ko-KR" sz="1200"/>
              <a:t>풀업</a:t>
            </a:r>
            <a:r>
              <a:rPr dirty="0" lang="ko-KR" sz="1200"/>
              <a:t> 저항 사용 시 눌리면 LOW)</a:t>
            </a:r>
          </a:p>
          <a:p>
            <a:r>
              <a:rPr dirty="0" lang="ko-KR" sz="1200"/>
              <a:t>    if (</a:t>
            </a:r>
            <a:r>
              <a:rPr dirty="0" err="1" lang="ko-KR" sz="1200"/>
              <a:t>digitalRead</a:t>
            </a:r>
            <a:r>
              <a:rPr dirty="0" lang="ko-KR" sz="1200"/>
              <a:t>(</a:t>
            </a:r>
            <a:r>
              <a:rPr dirty="0" err="1" lang="ko-KR" sz="1200"/>
              <a:t>buttonPins</a:t>
            </a:r>
            <a:r>
              <a:rPr dirty="0" lang="ko-KR" sz="1200"/>
              <a:t>[i]) == LOW) {</a:t>
            </a:r>
          </a:p>
          <a:p>
            <a:r>
              <a:rPr dirty="0" lang="ko-KR" sz="1200"/>
              <a:t>      // 해당 버튼에 맞는 음을 재생</a:t>
            </a:r>
          </a:p>
          <a:p>
            <a:r>
              <a:rPr dirty="0" lang="ko-KR" sz="1200"/>
              <a:t>      </a:t>
            </a:r>
            <a:r>
              <a:rPr dirty="0" err="1" lang="ko-KR" sz="1200"/>
              <a:t>tone</a:t>
            </a:r>
            <a:r>
              <a:rPr dirty="0" lang="ko-KR" sz="1200"/>
              <a:t>(</a:t>
            </a:r>
            <a:r>
              <a:rPr dirty="0" err="1" lang="ko-KR" sz="1200"/>
              <a:t>buzzerPin</a:t>
            </a:r>
            <a:r>
              <a:rPr dirty="0" lang="ko-KR" sz="1200"/>
              <a:t>, </a:t>
            </a:r>
            <a:r>
              <a:rPr dirty="0" err="1" lang="ko-KR" sz="1200"/>
              <a:t>notes</a:t>
            </a:r>
            <a:r>
              <a:rPr dirty="0" lang="ko-KR" sz="1200"/>
              <a:t>[i]);</a:t>
            </a:r>
          </a:p>
          <a:p>
            <a:r>
              <a:rPr dirty="0" lang="ko-KR" sz="1200"/>
              <a:t>      </a:t>
            </a:r>
            <a:r>
              <a:rPr dirty="0" err="1" lang="ko-KR" sz="1200"/>
              <a:t>Serial.print</a:t>
            </a:r>
            <a:r>
              <a:rPr dirty="0" lang="ko-KR" sz="1200"/>
              <a:t>("</a:t>
            </a:r>
            <a:r>
              <a:rPr dirty="0" err="1" lang="ko-KR" sz="1200"/>
              <a:t>Playing</a:t>
            </a:r>
            <a:r>
              <a:rPr dirty="0" lang="ko-KR" sz="1200"/>
              <a:t> </a:t>
            </a:r>
            <a:r>
              <a:rPr dirty="0" err="1" lang="ko-KR" sz="1200"/>
              <a:t>note</a:t>
            </a:r>
            <a:r>
              <a:rPr dirty="0" lang="ko-KR" sz="1200"/>
              <a:t>: ");</a:t>
            </a:r>
          </a:p>
          <a:p>
            <a:r>
              <a:rPr dirty="0" lang="ko-KR" sz="1200"/>
              <a:t>      </a:t>
            </a:r>
            <a:r>
              <a:rPr dirty="0" err="1" lang="ko-KR" sz="1200"/>
              <a:t>Serial.println</a:t>
            </a:r>
            <a:r>
              <a:rPr dirty="0" lang="ko-KR" sz="1200"/>
              <a:t>(</a:t>
            </a:r>
            <a:r>
              <a:rPr dirty="0" err="1" lang="ko-KR" sz="1200"/>
              <a:t>notes</a:t>
            </a:r>
            <a:r>
              <a:rPr dirty="0" lang="ko-KR" sz="1200"/>
              <a:t>[i]);</a:t>
            </a:r>
          </a:p>
          <a:p>
            <a:endParaRPr dirty="0" lang="ko-KR" sz="1200"/>
          </a:p>
          <a:p>
            <a:r>
              <a:rPr dirty="0" lang="ko-KR" sz="1200"/>
              <a:t>      // 버튼이 계속 눌려 있어도 한 번만 소리 나도록 </a:t>
            </a:r>
            <a:r>
              <a:rPr dirty="0" err="1" lang="ko-KR" sz="1200"/>
              <a:t>딜레이</a:t>
            </a:r>
            <a:r>
              <a:rPr dirty="0" lang="ko-KR" sz="1200"/>
              <a:t> 추가 (선택 사항)</a:t>
            </a:r>
          </a:p>
          <a:p>
            <a:r>
              <a:rPr dirty="0" lang="ko-KR" sz="1200"/>
              <a:t>      // </a:t>
            </a:r>
            <a:r>
              <a:rPr dirty="0" err="1" lang="ko-KR" sz="1200"/>
              <a:t>딜레이를</a:t>
            </a:r>
            <a:r>
              <a:rPr dirty="0" lang="ko-KR" sz="1200"/>
              <a:t> 짧게 주면 여러 음을 동시에 누르는 효과를 낼 수 있습니다.</a:t>
            </a:r>
          </a:p>
          <a:p>
            <a:r>
              <a:rPr dirty="0" lang="ko-KR" sz="1200"/>
              <a:t>      // </a:t>
            </a:r>
            <a:r>
              <a:rPr dirty="0" err="1" lang="ko-KR" sz="1200"/>
              <a:t>delay</a:t>
            </a:r>
            <a:r>
              <a:rPr dirty="0" lang="ko-KR" sz="1200"/>
              <a:t>(100);</a:t>
            </a:r>
          </a:p>
          <a:p>
            <a:r>
              <a:rPr dirty="0" lang="ko-KR" sz="1200"/>
              <a:t>    } </a:t>
            </a:r>
            <a:r>
              <a:rPr dirty="0" err="1" lang="ko-KR" sz="1200"/>
              <a:t>else</a:t>
            </a:r>
            <a:r>
              <a:rPr dirty="0" lang="ko-KR" sz="1200"/>
              <a:t> {</a:t>
            </a:r>
          </a:p>
          <a:p>
            <a:r>
              <a:rPr dirty="0" lang="ko-KR" sz="1200"/>
              <a:t>      // 버튼이 눌리지 않으면 소리 정지</a:t>
            </a:r>
          </a:p>
          <a:p>
            <a:r>
              <a:rPr dirty="0" lang="ko-KR" sz="1200"/>
              <a:t>      </a:t>
            </a:r>
            <a:r>
              <a:rPr dirty="0" err="1" lang="ko-KR" sz="1200"/>
              <a:t>noTone</a:t>
            </a:r>
            <a:r>
              <a:rPr dirty="0" lang="ko-KR" sz="1200"/>
              <a:t>(</a:t>
            </a:r>
            <a:r>
              <a:rPr dirty="0" err="1" lang="ko-KR" sz="1200"/>
              <a:t>buzzerPin</a:t>
            </a:r>
            <a:r>
              <a:rPr dirty="0" lang="ko-KR" sz="1200"/>
              <a:t>);</a:t>
            </a:r>
          </a:p>
          <a:p>
            <a:r>
              <a:rPr dirty="0" lang="ko-KR" sz="1200"/>
              <a:t>    }</a:t>
            </a:r>
          </a:p>
          <a:p>
            <a:r>
              <a:rPr dirty="0" lang="ko-KR" sz="1200"/>
              <a:t>  }</a:t>
            </a:r>
          </a:p>
          <a:p>
            <a:r>
              <a:rPr dirty="0" lang="ko-KR" sz="120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86" y="121254"/>
            <a:ext cx="613501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스위치와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부저를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이용한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전자피아노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662475"/>
            <a:ext cx="609322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549756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986" y="121254"/>
            <a:ext cx="5237331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LCD 16x2 “Hello, world!”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출력하기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662475"/>
            <a:ext cx="5293317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8711681" y="4647733"/>
            <a:ext cx="2848947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#</a:t>
            </a:r>
            <a:r>
              <a:rPr dirty="0" err="1" lang="ko-KR" sz="1200"/>
              <a:t>include</a:t>
            </a:r>
            <a:r>
              <a:rPr dirty="0" lang="ko-KR" sz="1200"/>
              <a:t>&lt;</a:t>
            </a:r>
            <a:r>
              <a:rPr dirty="0" err="1" lang="ko-KR" sz="1200"/>
              <a:t>LiquidCrystal.h</a:t>
            </a:r>
            <a:r>
              <a:rPr dirty="0" lang="ko-KR" sz="1200"/>
              <a:t>&gt;</a:t>
            </a:r>
          </a:p>
          <a:p>
            <a:endParaRPr dirty="0" lang="ko-KR" sz="1200"/>
          </a:p>
          <a:p>
            <a:r>
              <a:rPr dirty="0" err="1" lang="ko-KR" sz="1200"/>
              <a:t>LiquidCrystal</a:t>
            </a:r>
            <a:r>
              <a:rPr dirty="0" lang="ko-KR" sz="1200"/>
              <a:t> </a:t>
            </a:r>
            <a:r>
              <a:rPr dirty="0" err="1" lang="ko-KR" sz="1200"/>
              <a:t>lcd</a:t>
            </a:r>
            <a:r>
              <a:rPr dirty="0" lang="ko-KR" sz="1200"/>
              <a:t>(12, 11, 5, 4, 3, 2);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lcd.begin</a:t>
            </a:r>
            <a:r>
              <a:rPr dirty="0" lang="ko-KR" sz="1200"/>
              <a:t>(16, 2);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lcd.print</a:t>
            </a:r>
            <a:r>
              <a:rPr dirty="0" lang="ko-KR" sz="1200"/>
              <a:t>("</a:t>
            </a:r>
            <a:r>
              <a:rPr dirty="0" err="1" lang="ko-KR" sz="1200"/>
              <a:t>Hello</a:t>
            </a:r>
            <a:r>
              <a:rPr dirty="0" lang="ko-KR" sz="1200"/>
              <a:t>, </a:t>
            </a:r>
            <a:r>
              <a:rPr dirty="0" err="1" lang="ko-KR" sz="1200"/>
              <a:t>world</a:t>
            </a:r>
            <a:r>
              <a:rPr dirty="0" lang="ko-KR" sz="1200"/>
              <a:t>!!!");</a:t>
            </a:r>
          </a:p>
          <a:p>
            <a:r>
              <a:rPr dirty="0" lang="ko-KR" sz="1200"/>
              <a:t>}</a:t>
            </a:r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(){</a:t>
            </a:r>
          </a:p>
          <a:p>
            <a:r>
              <a:rPr dirty="0" lang="ko-KR" sz="1200"/>
              <a:t>}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310" l="1661" r="100000" t="966">
                        <a14:foregroundMark x1="19315" x2="21080" y1="21655" y2="25931"/>
                        <a14:foregroundMark x1="14330" x2="10800" y1="20966" y2="21103"/>
                        <a14:foregroundMark x1="9657" x2="11526" y1="21103" y2="21103"/>
                        <a14:foregroundMark x1="10177" x2="8723" y1="21379" y2="20966"/>
                        <a14:foregroundMark x1="8619" x2="18484" y1="52552" y2="51862"/>
                        <a14:foregroundMark x1="9761" x2="49844" y1="53655" y2="53241"/>
                        <a14:foregroundMark x1="37383" x2="40602" y1="72138" y2="73103"/>
                        <a14:foregroundMark x1="35722" x2="35826" y1="70621" y2="74897"/>
                        <a14:foregroundMark x1="18899" x2="30841" y1="72828" y2="72690"/>
                        <a14:foregroundMark x1="6646" x2="8307" y1="22345" y2="22345"/>
                        <a14:foregroundMark x1="6231" x2="6127" y1="24414" y2="91310"/>
                        <a14:foregroundMark x1="6334" x2="6438" y1="90897" y2="94207"/>
                        <a14:foregroundMark x1="53063" x2="59709" y1="56000" y2="55724"/>
                        <a14:foregroundMark x1="90343" x2="90550" y1="19448" y2="52000"/>
                        <a14:foregroundMark x1="89720" x2="91589" y1="58345" y2="58069"/>
                        <a14:foregroundMark x1="92420" x2="91485" y1="51310" y2="23724"/>
                        <a14:foregroundMark x1="86708" x2="87954" y1="20690" y2="48690"/>
                        <a14:foregroundMark x1="84112" x2="87747" y1="14483" y2="14345"/>
                        <a14:foregroundMark x1="38422" x2="69782" y1="14345" y2="14069"/>
                        <a14:foregroundMark x1="31880" x2="71859" y1="7586" y2="7172"/>
                        <a14:foregroundMark x1="79232" x2="40083" y1="7586" y2="8690"/>
                        <a14:foregroundMark x1="46833" x2="56594" y1="6483" y2="6483"/>
                        <a14:foregroundMark x1="20976" x2="25026" y1="21379" y2="21103"/>
                        <a14:foregroundMark x1="35306" x2="39772" y1="8552" y2="8552"/>
                        <a14:backgroundMark x1="10280" x2="17861" y1="9517" y2="9517"/>
                        <a14:backgroundMark x1="74559" x2="92939" y1="68690" y2="90069"/>
                        <a14:backgroundMark x1="13499" x2="39668" y1="58759" y2="57793"/>
                        <a14:backgroundMark x1="4050" x2="3738" y1="13103" y2="81379"/>
                        <a14:backgroundMark x1="34891" x2="74766" y1="7862" y2="7586"/>
                        <a14:backgroundMark x1="92004" x2="95223" y1="5793" y2="73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9032" y="742032"/>
            <a:ext cx="7942838" cy="597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81478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331167" y="1508585"/>
            <a:ext cx="3072882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400"/>
              <a:t>#</a:t>
            </a:r>
            <a:r>
              <a:rPr dirty="0" err="1" lang="ko-KR" sz="1400"/>
              <a:t>include</a:t>
            </a:r>
            <a:r>
              <a:rPr dirty="0" lang="ko-KR" sz="1400"/>
              <a:t>&lt;</a:t>
            </a:r>
            <a:r>
              <a:rPr dirty="0" err="1" lang="ko-KR" sz="1400"/>
              <a:t>LiquidCrystal.h</a:t>
            </a:r>
            <a:r>
              <a:rPr dirty="0" lang="ko-KR" sz="1400"/>
              <a:t>&gt;</a:t>
            </a:r>
          </a:p>
          <a:p>
            <a:endParaRPr dirty="0" lang="ko-KR" sz="1400"/>
          </a:p>
          <a:p>
            <a:r>
              <a:rPr dirty="0" err="1" lang="ko-KR" sz="1400"/>
              <a:t>LiquidCrystal</a:t>
            </a:r>
            <a:r>
              <a:rPr dirty="0" lang="ko-KR" sz="1400"/>
              <a:t> </a:t>
            </a:r>
            <a:r>
              <a:rPr dirty="0" err="1" lang="ko-KR" sz="1400"/>
              <a:t>lcd</a:t>
            </a:r>
            <a:r>
              <a:rPr dirty="0" lang="ko-KR" sz="1400"/>
              <a:t>(12, 11, 5, 4, 3, 2);</a:t>
            </a:r>
          </a:p>
          <a:p>
            <a:endParaRPr dirty="0" lang="ko-KR" sz="1400"/>
          </a:p>
          <a:p>
            <a:r>
              <a:rPr dirty="0" err="1" lang="ko-KR" sz="1400"/>
              <a:t>void</a:t>
            </a:r>
            <a:r>
              <a:rPr dirty="0" lang="ko-KR" sz="1400"/>
              <a:t> </a:t>
            </a:r>
            <a:r>
              <a:rPr dirty="0" err="1" lang="ko-KR" sz="1400"/>
              <a:t>setup</a:t>
            </a:r>
            <a:r>
              <a:rPr dirty="0" lang="ko-KR" sz="1400"/>
              <a:t>() {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lcd.begin</a:t>
            </a:r>
            <a:r>
              <a:rPr dirty="0" lang="ko-KR" sz="1400"/>
              <a:t>(16, 2);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lcd.print</a:t>
            </a:r>
            <a:r>
              <a:rPr dirty="0" lang="ko-KR" sz="1400"/>
              <a:t>("</a:t>
            </a:r>
            <a:r>
              <a:rPr dirty="0" err="1" lang="ko-KR" sz="1400"/>
              <a:t>Hello</a:t>
            </a:r>
            <a:r>
              <a:rPr dirty="0" lang="ko-KR" sz="1400"/>
              <a:t>, </a:t>
            </a:r>
            <a:r>
              <a:rPr dirty="0" err="1" lang="ko-KR" sz="1400"/>
              <a:t>world</a:t>
            </a:r>
            <a:r>
              <a:rPr dirty="0" lang="ko-KR" sz="1400"/>
              <a:t>!!!");</a:t>
            </a:r>
          </a:p>
          <a:p>
            <a:r>
              <a:rPr dirty="0" lang="ko-KR" sz="1400"/>
              <a:t>}</a:t>
            </a:r>
          </a:p>
          <a:p>
            <a:r>
              <a:rPr dirty="0" err="1" lang="ko-KR" sz="1400"/>
              <a:t>void</a:t>
            </a:r>
            <a:r>
              <a:rPr dirty="0" lang="ko-KR" sz="1400"/>
              <a:t> </a:t>
            </a:r>
            <a:r>
              <a:rPr dirty="0" err="1" lang="ko-KR" sz="1400"/>
              <a:t>loop</a:t>
            </a:r>
            <a:r>
              <a:rPr dirty="0" lang="ko-KR" sz="1400"/>
              <a:t>() {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lcd.print</a:t>
            </a:r>
            <a:r>
              <a:rPr dirty="0" lang="ko-KR" sz="1400"/>
              <a:t>("</a:t>
            </a:r>
            <a:r>
              <a:rPr dirty="0" err="1" lang="ko-KR" sz="1400"/>
              <a:t>Cusor</a:t>
            </a:r>
            <a:r>
              <a:rPr dirty="0" lang="ko-KR" sz="1400"/>
              <a:t> ON-</a:t>
            </a:r>
            <a:r>
              <a:rPr dirty="0" err="1" lang="ko-KR" sz="1400"/>
              <a:t>Blink</a:t>
            </a:r>
            <a:r>
              <a:rPr dirty="0" lang="ko-KR" sz="1400"/>
              <a:t>");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lcd.cursor</a:t>
            </a:r>
            <a:r>
              <a:rPr dirty="0" lang="ko-KR" sz="1400"/>
              <a:t>();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lcd.blink</a:t>
            </a:r>
            <a:r>
              <a:rPr dirty="0" lang="ko-KR" sz="1400"/>
              <a:t>();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delay</a:t>
            </a:r>
            <a:r>
              <a:rPr dirty="0" lang="ko-KR" sz="1400"/>
              <a:t>(2000);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lcd.clear</a:t>
            </a:r>
            <a:r>
              <a:rPr dirty="0" lang="ko-KR" sz="1400"/>
              <a:t>();</a:t>
            </a:r>
          </a:p>
          <a:p>
            <a:endParaRPr dirty="0" lang="ko-KR" sz="1400"/>
          </a:p>
          <a:p>
            <a:r>
              <a:rPr dirty="0" lang="ko-KR" sz="1400"/>
              <a:t>  </a:t>
            </a:r>
            <a:r>
              <a:rPr dirty="0" err="1" lang="ko-KR" sz="1400"/>
              <a:t>lcd.print</a:t>
            </a:r>
            <a:r>
              <a:rPr dirty="0" lang="ko-KR" sz="1400"/>
              <a:t>("</a:t>
            </a:r>
            <a:r>
              <a:rPr dirty="0" err="1" lang="ko-KR" sz="1400"/>
              <a:t>Cusor</a:t>
            </a:r>
            <a:r>
              <a:rPr dirty="0" lang="ko-KR" sz="1400"/>
              <a:t> OFF");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lcd.noBlink</a:t>
            </a:r>
            <a:r>
              <a:rPr dirty="0" lang="ko-KR" sz="1400"/>
              <a:t>();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lcd.cursor</a:t>
            </a:r>
            <a:r>
              <a:rPr dirty="0" lang="ko-KR" sz="1400"/>
              <a:t>();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delay</a:t>
            </a:r>
            <a:r>
              <a:rPr dirty="0" lang="ko-KR" sz="1400"/>
              <a:t>(1000);</a:t>
            </a:r>
          </a:p>
          <a:p>
            <a:r>
              <a:rPr dirty="0" lang="ko-KR" sz="1400"/>
              <a:t>  </a:t>
            </a:r>
            <a:r>
              <a:rPr dirty="0" err="1" lang="ko-KR" sz="1400"/>
              <a:t>lcd.clear</a:t>
            </a:r>
            <a:r>
              <a:rPr dirty="0" lang="ko-KR" sz="1400"/>
              <a:t>();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662195" y="1508585"/>
            <a:ext cx="3072882" cy="46166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endParaRPr altLang="ko-KR" dirty="0" lang="en-US" sz="1400"/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lcd.print</a:t>
            </a:r>
            <a:r>
              <a:rPr altLang="ko-KR" dirty="0" lang="en-US" sz="1400"/>
              <a:t>("Count Up");</a:t>
            </a:r>
          </a:p>
          <a:p>
            <a:r>
              <a:rPr altLang="ko-KR" dirty="0" lang="en-US" sz="1400"/>
              <a:t>  delay(1000);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lcd.clear</a:t>
            </a:r>
            <a:r>
              <a:rPr altLang="ko-KR" dirty="0" lang="en-US" sz="1400"/>
              <a:t>();</a:t>
            </a:r>
          </a:p>
          <a:p>
            <a:r>
              <a:rPr altLang="ko-KR" dirty="0" lang="en-US" sz="1400"/>
              <a:t>  for(</a:t>
            </a:r>
            <a:r>
              <a:rPr altLang="ko-KR" dirty="0" err="1" lang="en-US" sz="1400"/>
              <a:t>int</a:t>
            </a:r>
            <a:r>
              <a:rPr altLang="ko-KR" dirty="0" lang="en-US" sz="1400"/>
              <a:t> k = 0; k &lt;= 10; k++) {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lcd.home</a:t>
            </a:r>
            <a:r>
              <a:rPr altLang="ko-KR" dirty="0" lang="en-US" sz="1400"/>
              <a:t>();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lcd.print</a:t>
            </a:r>
            <a:r>
              <a:rPr altLang="ko-KR" dirty="0" lang="en-US" sz="1400"/>
              <a:t>("No : ");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lcd.print</a:t>
            </a:r>
            <a:r>
              <a:rPr altLang="ko-KR" dirty="0" lang="en-US" sz="1400"/>
              <a:t>(k);</a:t>
            </a:r>
          </a:p>
          <a:p>
            <a:r>
              <a:rPr altLang="ko-KR" dirty="0" lang="en-US" sz="1400"/>
              <a:t>    delay(200);</a:t>
            </a:r>
          </a:p>
          <a:p>
            <a:r>
              <a:rPr altLang="ko-KR" dirty="0" lang="en-US" sz="1400"/>
              <a:t>  }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lcd.clear</a:t>
            </a:r>
            <a:r>
              <a:rPr altLang="ko-KR" dirty="0" lang="en-US" sz="1400"/>
              <a:t>();</a:t>
            </a:r>
          </a:p>
          <a:p>
            <a:endParaRPr altLang="ko-KR" dirty="0" lang="en-US" sz="1400"/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lcd.print</a:t>
            </a:r>
            <a:r>
              <a:rPr altLang="ko-KR" dirty="0" lang="en-US" sz="1400"/>
              <a:t>("Hello!");</a:t>
            </a:r>
          </a:p>
          <a:p>
            <a:r>
              <a:rPr altLang="ko-KR" dirty="0" lang="en-US" sz="1400"/>
              <a:t>  for(</a:t>
            </a:r>
            <a:r>
              <a:rPr altLang="ko-KR" dirty="0" err="1" lang="en-US" sz="1400"/>
              <a:t>int</a:t>
            </a:r>
            <a:r>
              <a:rPr altLang="ko-KR" dirty="0" lang="en-US" sz="1400"/>
              <a:t> k = 0; k &lt; 3; k++) {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lcd.noDisplay</a:t>
            </a:r>
            <a:r>
              <a:rPr altLang="ko-KR" dirty="0" lang="en-US" sz="1400"/>
              <a:t>();</a:t>
            </a:r>
          </a:p>
          <a:p>
            <a:r>
              <a:rPr altLang="ko-KR" dirty="0" lang="en-US" sz="1400"/>
              <a:t>    delay(1000);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lcd.display</a:t>
            </a:r>
            <a:r>
              <a:rPr altLang="ko-KR" dirty="0" lang="en-US" sz="1400"/>
              <a:t>();</a:t>
            </a:r>
          </a:p>
          <a:p>
            <a:r>
              <a:rPr altLang="ko-KR" dirty="0" lang="en-US" sz="1400"/>
              <a:t>    delay(1000);</a:t>
            </a:r>
          </a:p>
          <a:p>
            <a:r>
              <a:rPr altLang="ko-KR" dirty="0" lang="en-US" sz="1400"/>
              <a:t>  }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lcd.clear</a:t>
            </a:r>
            <a:r>
              <a:rPr altLang="ko-KR" dirty="0" lang="en-US" sz="1400"/>
              <a:t>();</a:t>
            </a:r>
          </a:p>
          <a:p>
            <a:endParaRPr altLang="ko-KR" dirty="0" lang="en-US" sz="1400"/>
          </a:p>
        </p:txBody>
      </p:sp>
      <p:sp>
        <p:nvSpPr>
          <p:cNvPr id="4" name="직사각형 3"/>
          <p:cNvSpPr/>
          <p:nvPr/>
        </p:nvSpPr>
        <p:spPr>
          <a:xfrm>
            <a:off x="7993223" y="1508585"/>
            <a:ext cx="3072882" cy="37548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endParaRPr altLang="ko-KR" dirty="0" lang="en-US" sz="1400"/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lcd.setCursor</a:t>
            </a:r>
            <a:r>
              <a:rPr altLang="ko-KR" dirty="0" lang="en-US" sz="1400"/>
              <a:t>(6, 0);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lcd.print</a:t>
            </a:r>
            <a:r>
              <a:rPr altLang="ko-KR" dirty="0" lang="en-US" sz="1400"/>
              <a:t>("Hello!");</a:t>
            </a:r>
          </a:p>
          <a:p>
            <a:r>
              <a:rPr altLang="ko-KR" dirty="0" lang="en-US" sz="1400"/>
              <a:t>  for(</a:t>
            </a:r>
            <a:r>
              <a:rPr altLang="ko-KR" dirty="0" err="1" lang="en-US" sz="1400"/>
              <a:t>int</a:t>
            </a:r>
            <a:r>
              <a:rPr altLang="ko-KR" dirty="0" lang="en-US" sz="1400"/>
              <a:t> k = 0; k &lt; 3; k++) {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lcd.scrollDisplayRight</a:t>
            </a:r>
            <a:r>
              <a:rPr altLang="ko-KR" dirty="0" lang="en-US" sz="1400"/>
              <a:t>();</a:t>
            </a:r>
          </a:p>
          <a:p>
            <a:r>
              <a:rPr altLang="ko-KR" dirty="0" lang="en-US" sz="1400"/>
              <a:t>    delay(500);</a:t>
            </a:r>
          </a:p>
          <a:p>
            <a:r>
              <a:rPr altLang="ko-KR" dirty="0" lang="en-US" sz="1400"/>
              <a:t>  }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lcd.clear</a:t>
            </a:r>
            <a:r>
              <a:rPr altLang="ko-KR" dirty="0" lang="en-US" smtClean="0" sz="1400"/>
              <a:t>();</a:t>
            </a:r>
          </a:p>
          <a:p>
            <a:endParaRPr altLang="ko-KR" dirty="0" lang="en-US" sz="1400"/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lcd.setCursor</a:t>
            </a:r>
            <a:r>
              <a:rPr altLang="ko-KR" dirty="0" lang="en-US" sz="1400"/>
              <a:t>(6, 0);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lcd.print</a:t>
            </a:r>
            <a:r>
              <a:rPr altLang="ko-KR" dirty="0" lang="en-US" sz="1400"/>
              <a:t>("Hello!");</a:t>
            </a:r>
          </a:p>
          <a:p>
            <a:r>
              <a:rPr altLang="ko-KR" dirty="0" lang="en-US" sz="1400"/>
              <a:t>  for(</a:t>
            </a:r>
            <a:r>
              <a:rPr altLang="ko-KR" dirty="0" err="1" lang="en-US" sz="1400"/>
              <a:t>int</a:t>
            </a:r>
            <a:r>
              <a:rPr altLang="ko-KR" dirty="0" lang="en-US" sz="1400"/>
              <a:t> k = 0; k &lt; 3; k++) {</a:t>
            </a:r>
          </a:p>
          <a:p>
            <a:r>
              <a:rPr altLang="ko-KR" dirty="0" lang="en-US" sz="1400"/>
              <a:t>    </a:t>
            </a:r>
            <a:r>
              <a:rPr altLang="ko-KR" dirty="0" err="1" lang="en-US" sz="1400"/>
              <a:t>lcd.scrollDisplayLeft</a:t>
            </a:r>
            <a:r>
              <a:rPr altLang="ko-KR" dirty="0" lang="en-US" sz="1400"/>
              <a:t>();</a:t>
            </a:r>
          </a:p>
          <a:p>
            <a:r>
              <a:rPr altLang="ko-KR" dirty="0" lang="en-US" sz="1400"/>
              <a:t>    delay(500);</a:t>
            </a:r>
          </a:p>
          <a:p>
            <a:r>
              <a:rPr altLang="ko-KR" dirty="0" lang="en-US" sz="1400"/>
              <a:t>  }</a:t>
            </a:r>
          </a:p>
          <a:p>
            <a:r>
              <a:rPr altLang="ko-KR" dirty="0" lang="en-US" sz="1400"/>
              <a:t>  </a:t>
            </a:r>
            <a:r>
              <a:rPr altLang="ko-KR" dirty="0" err="1" lang="en-US" sz="1400"/>
              <a:t>lcd.clear</a:t>
            </a:r>
            <a:r>
              <a:rPr altLang="ko-KR" dirty="0" lang="en-US" sz="1400"/>
              <a:t>();</a:t>
            </a:r>
          </a:p>
          <a:p>
            <a:r>
              <a:rPr altLang="ko-KR" dirty="0" lang="en-US" smtClean="0" sz="1400"/>
              <a:t>}</a:t>
            </a:r>
            <a:endParaRPr altLang="ko-KR" dirty="0" lang="en-US" sz="1400"/>
          </a:p>
        </p:txBody>
      </p:sp>
      <p:sp>
        <p:nvSpPr>
          <p:cNvPr id="5" name="TextBox 4"/>
          <p:cNvSpPr txBox="1"/>
          <p:nvPr/>
        </p:nvSpPr>
        <p:spPr>
          <a:xfrm>
            <a:off x="55986" y="121254"/>
            <a:ext cx="3852337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LCD 16x2 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문자열 출력하기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662475"/>
            <a:ext cx="3834882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33163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559560" y="1591099"/>
            <a:ext cx="2587690" cy="36009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#</a:t>
            </a:r>
            <a:r>
              <a:rPr dirty="0" err="1" lang="ko-KR" sz="1200"/>
              <a:t>include</a:t>
            </a:r>
            <a:r>
              <a:rPr dirty="0" lang="ko-KR" sz="1200"/>
              <a:t>&lt;</a:t>
            </a:r>
            <a:r>
              <a:rPr dirty="0" err="1" lang="ko-KR" sz="1200"/>
              <a:t>LiquidCrystal.h</a:t>
            </a:r>
            <a:r>
              <a:rPr dirty="0" lang="ko-KR" sz="1200"/>
              <a:t>&gt;</a:t>
            </a:r>
          </a:p>
          <a:p>
            <a:endParaRPr dirty="0" lang="ko-KR" sz="1200"/>
          </a:p>
          <a:p>
            <a:r>
              <a:rPr dirty="0" err="1" lang="ko-KR" sz="1200"/>
              <a:t>LiquidCrystal</a:t>
            </a:r>
            <a:r>
              <a:rPr dirty="0" lang="ko-KR" sz="1200"/>
              <a:t> </a:t>
            </a:r>
            <a:r>
              <a:rPr dirty="0" err="1" lang="ko-KR" sz="1200"/>
              <a:t>lcd</a:t>
            </a:r>
            <a:r>
              <a:rPr dirty="0" lang="ko-KR" sz="1200"/>
              <a:t>(12, 11, 5, 4, 3, 2);</a:t>
            </a:r>
          </a:p>
          <a:p>
            <a:r>
              <a:rPr dirty="0" err="1" lang="ko-KR" sz="1200"/>
              <a:t>byte</a:t>
            </a:r>
            <a:r>
              <a:rPr dirty="0" lang="ko-KR" sz="1200"/>
              <a:t> </a:t>
            </a:r>
            <a:r>
              <a:rPr dirty="0" err="1" lang="ko-KR" sz="1200"/>
              <a:t>mFace</a:t>
            </a:r>
            <a:r>
              <a:rPr dirty="0" lang="ko-KR" sz="1200"/>
              <a:t>[8] = {B01110,</a:t>
            </a:r>
          </a:p>
          <a:p>
            <a:r>
              <a:rPr dirty="0" lang="ko-KR" sz="1200"/>
              <a:t>                 B10001,   </a:t>
            </a:r>
          </a:p>
          <a:p>
            <a:r>
              <a:rPr dirty="0" lang="ko-KR" sz="1200"/>
              <a:t>                 B00000,</a:t>
            </a:r>
          </a:p>
          <a:p>
            <a:r>
              <a:rPr dirty="0" lang="ko-KR" sz="1200"/>
              <a:t>                 B01010,</a:t>
            </a:r>
          </a:p>
          <a:p>
            <a:r>
              <a:rPr dirty="0" lang="ko-KR" sz="1200"/>
              <a:t>                 B00000,</a:t>
            </a:r>
          </a:p>
          <a:p>
            <a:r>
              <a:rPr dirty="0" lang="ko-KR" sz="1200"/>
              <a:t>                 B00100,</a:t>
            </a:r>
          </a:p>
          <a:p>
            <a:r>
              <a:rPr dirty="0" lang="ko-KR" sz="1200"/>
              <a:t>                 B10001,</a:t>
            </a:r>
          </a:p>
          <a:p>
            <a:r>
              <a:rPr dirty="0" lang="ko-KR" sz="1200"/>
              <a:t>                 B01110};</a:t>
            </a:r>
          </a:p>
          <a:p>
            <a:r>
              <a:rPr dirty="0" lang="ko-KR" sz="1200"/>
              <a:t>  </a:t>
            </a:r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lcd.createChar</a:t>
            </a:r>
            <a:r>
              <a:rPr dirty="0" lang="ko-KR" sz="1200"/>
              <a:t>(0, </a:t>
            </a:r>
            <a:r>
              <a:rPr dirty="0" err="1" lang="ko-KR" sz="1200"/>
              <a:t>mFace</a:t>
            </a:r>
            <a:r>
              <a:rPr dirty="0" lang="ko-KR" sz="1200"/>
              <a:t>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lcd.begin</a:t>
            </a:r>
            <a:r>
              <a:rPr dirty="0" lang="ko-KR" sz="1200"/>
              <a:t>(16, 2);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lcd.write</a:t>
            </a:r>
            <a:r>
              <a:rPr dirty="0" lang="ko-KR" sz="1200"/>
              <a:t>(</a:t>
            </a:r>
            <a:r>
              <a:rPr dirty="0" err="1" lang="ko-KR" sz="1200"/>
              <a:t>byte</a:t>
            </a:r>
            <a:r>
              <a:rPr dirty="0" lang="ko-KR" sz="1200"/>
              <a:t>(0));</a:t>
            </a:r>
          </a:p>
          <a:p>
            <a:r>
              <a:rPr dirty="0" lang="ko-KR" sz="1200"/>
              <a:t>}</a:t>
            </a:r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 {</a:t>
            </a:r>
          </a:p>
          <a:p>
            <a:r>
              <a:rPr dirty="0" lang="ko-KR" sz="120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86" y="121254"/>
            <a:ext cx="4801314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Text LCD 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사용자 </a:t>
            </a:r>
            <a:r>
              <a:rPr dirty="0" err="1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정의문자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 만들기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662475"/>
            <a:ext cx="4777273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941969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1980" l="1617" r="97021" t="7519">
                        <a14:foregroundMark x1="62553" x2="90553" y1="45865" y2="47368"/>
                        <a14:foregroundMark x1="62979" x2="94043" y1="26817" y2="27820"/>
                        <a14:foregroundMark x1="61787" x2="61787" y1="30827" y2="67920"/>
                        <a14:foregroundMark x1="62213" x2="94298" y1="67419" y2="67669"/>
                        <a14:foregroundMark x1="94809" x2="94553" y1="66667" y2="28321"/>
                        <a14:foregroundMark x1="92936" x2="62809" y1="30576" y2="62155"/>
                        <a14:foregroundMark x1="5277" x2="20000" y1="36341" y2="35088"/>
                        <a14:foregroundMark x1="25191" x2="30128" y1="31078" y2="39599"/>
                        <a14:foregroundMark x1="29106" x2="25021" y1="33083" y2="41353"/>
                        <a14:foregroundMark x1="24936" x2="24511" y1="29825" y2="29825"/>
                        <a14:foregroundMark x1="26383" x2="24511" y1="29073" y2="28822"/>
                        <a14:foregroundMark x1="24936" x2="24085" y1="32331" y2="27318"/>
                        <a14:foregroundMark x1="25532" x2="24085" y1="28571" y2="28571"/>
                        <a14:foregroundMark x1="22383" x2="18638" y1="37093" y2="35589"/>
                        <a14:foregroundMark x1="57702" x2="59660" y1="33333" y2="33333"/>
                        <a14:foregroundMark x1="60340" x2="56596" y1="36842" y2="36591"/>
                        <a14:foregroundMark x1="57617" x2="59064" y1="38847" y2="38847"/>
                        <a14:foregroundMark x1="22298" x2="23745" y1="23810" y2="23810"/>
                        <a14:foregroundMark x1="26213" x2="24511" y1="24311" y2="24812"/>
                        <a14:foregroundMark x1="23234" x2="23660" y1="44862" y2="48872"/>
                      </a14:backgroundRemoval>
                    </a14:imgEffect>
                  </a14:imgLayer>
                </a14:imgProps>
              </a:ext>
            </a:extLst>
          </a:blip>
          <a:srcRect b="8302" l="2769" r="3582" t="5516"/>
          <a:stretch/>
        </p:blipFill>
        <p:spPr>
          <a:xfrm rot="5400000">
            <a:off x="-1512851" y="1800806"/>
            <a:ext cx="7464499" cy="23326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986" y="121254"/>
            <a:ext cx="4326826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I2C LCD</a:t>
            </a:r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를 이용한 문자열 출력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662475"/>
            <a:ext cx="4292082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045443" y="1445388"/>
            <a:ext cx="3194180" cy="433965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mtClean="0" sz="1200"/>
              <a:t>#</a:t>
            </a:r>
            <a:r>
              <a:rPr dirty="0" err="1" lang="ko-KR" sz="1200"/>
              <a:t>include</a:t>
            </a:r>
            <a:r>
              <a:rPr dirty="0" lang="ko-KR" sz="1200"/>
              <a:t> &lt;</a:t>
            </a:r>
            <a:r>
              <a:rPr dirty="0" err="1" lang="ko-KR" sz="1200"/>
              <a:t>Adafruit_LiquidCrystal.h</a:t>
            </a:r>
            <a:r>
              <a:rPr dirty="0" lang="ko-KR" sz="1200"/>
              <a:t>&gt;</a:t>
            </a:r>
          </a:p>
          <a:p>
            <a:endParaRPr dirty="0" lang="ko-KR" sz="1200"/>
          </a:p>
          <a:p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seconds</a:t>
            </a:r>
            <a:r>
              <a:rPr dirty="0" lang="ko-KR" sz="1200"/>
              <a:t> = 0;</a:t>
            </a:r>
          </a:p>
          <a:p>
            <a:endParaRPr dirty="0" lang="ko-KR" sz="1200"/>
          </a:p>
          <a:p>
            <a:r>
              <a:rPr dirty="0" err="1" lang="ko-KR" sz="1200"/>
              <a:t>Adafruit_LiquidCrystal</a:t>
            </a:r>
            <a:r>
              <a:rPr dirty="0" lang="ko-KR" sz="1200"/>
              <a:t> lcd_1(0);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</a:t>
            </a:r>
          </a:p>
          <a:p>
            <a:r>
              <a:rPr dirty="0" lang="ko-KR" sz="1200"/>
              <a:t>{</a:t>
            </a:r>
          </a:p>
          <a:p>
            <a:r>
              <a:rPr dirty="0" lang="ko-KR" sz="1200"/>
              <a:t>  lcd_1.begin(16, 2);</a:t>
            </a:r>
          </a:p>
          <a:p>
            <a:endParaRPr dirty="0" lang="ko-KR" sz="1200"/>
          </a:p>
          <a:p>
            <a:r>
              <a:rPr dirty="0" lang="ko-KR" sz="1200"/>
              <a:t>  lcd_1.print("</a:t>
            </a:r>
            <a:r>
              <a:rPr dirty="0" err="1" lang="ko-KR" sz="1200"/>
              <a:t>hello</a:t>
            </a:r>
            <a:r>
              <a:rPr dirty="0" lang="ko-KR" sz="1200"/>
              <a:t> </a:t>
            </a:r>
            <a:r>
              <a:rPr dirty="0" err="1" lang="ko-KR" sz="1200"/>
              <a:t>world</a:t>
            </a:r>
            <a:r>
              <a:rPr dirty="0" lang="ko-KR" sz="1200"/>
              <a:t>");</a:t>
            </a:r>
          </a:p>
          <a:p>
            <a:r>
              <a:rPr dirty="0" lang="ko-KR" sz="1200"/>
              <a:t>}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loop</a:t>
            </a:r>
            <a:r>
              <a:rPr dirty="0" lang="ko-KR" sz="1200"/>
              <a:t>()</a:t>
            </a:r>
          </a:p>
          <a:p>
            <a:r>
              <a:rPr dirty="0" lang="ko-KR" sz="1200"/>
              <a:t>{</a:t>
            </a:r>
          </a:p>
          <a:p>
            <a:r>
              <a:rPr dirty="0" lang="ko-KR" sz="1200"/>
              <a:t>  lcd_1.setCursor(0, 1);</a:t>
            </a:r>
          </a:p>
          <a:p>
            <a:r>
              <a:rPr dirty="0" lang="ko-KR" sz="1200"/>
              <a:t>  lcd_1.print(</a:t>
            </a:r>
            <a:r>
              <a:rPr dirty="0" err="1" lang="ko-KR" sz="1200"/>
              <a:t>seconds</a:t>
            </a:r>
            <a:r>
              <a:rPr dirty="0" lang="ko-KR" sz="1200"/>
              <a:t>);</a:t>
            </a:r>
          </a:p>
          <a:p>
            <a:r>
              <a:rPr dirty="0" lang="ko-KR" sz="1200"/>
              <a:t>  lcd_1.setBacklight(1);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 // </a:t>
            </a:r>
            <a:r>
              <a:rPr dirty="0" err="1" lang="ko-KR" sz="1200"/>
              <a:t>Wait</a:t>
            </a:r>
            <a:r>
              <a:rPr dirty="0" lang="ko-KR" sz="1200"/>
              <a:t> for 500 </a:t>
            </a:r>
            <a:r>
              <a:rPr dirty="0" err="1" lang="ko-KR" sz="1200"/>
              <a:t>millisecond</a:t>
            </a:r>
            <a:r>
              <a:rPr dirty="0" lang="ko-KR" sz="1200"/>
              <a:t>(</a:t>
            </a:r>
            <a:r>
              <a:rPr dirty="0" err="1" lang="ko-KR" sz="1200"/>
              <a:t>s</a:t>
            </a:r>
            <a:r>
              <a:rPr dirty="0" lang="ko-KR" sz="1200"/>
              <a:t>)</a:t>
            </a:r>
          </a:p>
          <a:p>
            <a:r>
              <a:rPr dirty="0" lang="ko-KR" sz="1200"/>
              <a:t>  lcd_1.setBacklight(0);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delay</a:t>
            </a:r>
            <a:r>
              <a:rPr dirty="0" lang="ko-KR" sz="1200"/>
              <a:t>(500); // </a:t>
            </a:r>
            <a:r>
              <a:rPr dirty="0" err="1" lang="ko-KR" sz="1200"/>
              <a:t>Wait</a:t>
            </a:r>
            <a:r>
              <a:rPr dirty="0" lang="ko-KR" sz="1200"/>
              <a:t> for 500 </a:t>
            </a:r>
            <a:r>
              <a:rPr dirty="0" err="1" lang="ko-KR" sz="1200"/>
              <a:t>millisecond</a:t>
            </a:r>
            <a:r>
              <a:rPr dirty="0" lang="ko-KR" sz="1200"/>
              <a:t>(</a:t>
            </a:r>
            <a:r>
              <a:rPr dirty="0" err="1" lang="ko-KR" sz="1200"/>
              <a:t>s</a:t>
            </a:r>
            <a:r>
              <a:rPr dirty="0" lang="ko-KR" sz="1200"/>
              <a:t>)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seconds</a:t>
            </a:r>
            <a:r>
              <a:rPr dirty="0" lang="ko-KR" sz="1200"/>
              <a:t> += 1;</a:t>
            </a:r>
          </a:p>
          <a:p>
            <a:r>
              <a:rPr dirty="0" lang="ko-KR" sz="1200"/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688425" y="1445388"/>
            <a:ext cx="4362995" cy="47089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altLang="ko-KR" dirty="0" lang="en-US" sz="1200">
                <a:solidFill>
                  <a:srgbClr val="728E00"/>
                </a:solidFill>
                <a:latin charset="0" panose="020B0609020204030204" pitchFamily="49" typeface="Consolas"/>
              </a:rPr>
              <a:t>#include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&lt;</a:t>
            </a:r>
            <a:r>
              <a:rPr altLang="ko-KR" dirty="0" err="1" lang="en-US" sz="1200">
                <a:solidFill>
                  <a:srgbClr val="005C5F"/>
                </a:solidFill>
                <a:latin charset="0" panose="020B0609020204030204" pitchFamily="49" typeface="Consolas"/>
              </a:rPr>
              <a:t>Wire.h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&gt;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728E00"/>
                </a:solidFill>
                <a:latin charset="0" panose="020B0609020204030204" pitchFamily="49" typeface="Consolas"/>
              </a:rPr>
              <a:t>#include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&lt;LiquidCrystal_I2C.h&gt;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/>
            </a:r>
            <a:b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</a:br>
            <a:r>
              <a:rPr altLang="ko-KR" dirty="0" err="1" lang="en-US" sz="1200">
                <a:solidFill>
                  <a:srgbClr val="00979D"/>
                </a:solidFill>
                <a:latin charset="0" panose="020B0609020204030204" pitchFamily="49" typeface="Consolas"/>
              </a:rPr>
              <a:t>int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 seconds =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0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/>
            </a:r>
            <a:b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</a:b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LiquidCrystal_I2C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0x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27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,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16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,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2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/>
            </a:r>
            <a:b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</a:br>
            <a:r>
              <a:rPr altLang="ko-KR" dirty="0" lang="en-US" sz="1200">
                <a:solidFill>
                  <a:srgbClr val="00979D"/>
                </a:solidFill>
                <a:latin charset="0" panose="020B0609020204030204" pitchFamily="49" typeface="Consolas"/>
              </a:rPr>
              <a:t>void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setup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()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{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.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init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.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print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"hello world"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}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/>
            </a:r>
            <a:b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</a:br>
            <a:r>
              <a:rPr altLang="ko-KR" dirty="0" lang="en-US" sz="1200">
                <a:solidFill>
                  <a:srgbClr val="00979D"/>
                </a:solidFill>
                <a:latin charset="0" panose="020B0609020204030204" pitchFamily="49" typeface="Consolas"/>
              </a:rPr>
              <a:t>void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loop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()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{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.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setCursor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0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,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1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.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print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seconds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.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setBacklight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1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delay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500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  <a:r>
              <a:rPr altLang="ko-KR" dirty="0" lang="en-US" sz="1200">
                <a:solidFill>
                  <a:srgbClr val="95A5A6"/>
                </a:solidFill>
                <a:latin charset="0" panose="020B0609020204030204" pitchFamily="49" typeface="Consolas"/>
              </a:rPr>
              <a:t> // Wait for 500 millisecond(s)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lcd_1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.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setBacklight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0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</a:t>
            </a:r>
            <a:r>
              <a:rPr altLang="ko-KR" dirty="0" lang="en-US" sz="1200">
                <a:solidFill>
                  <a:srgbClr val="D35400"/>
                </a:solidFill>
                <a:latin charset="0" panose="020B0609020204030204" pitchFamily="49" typeface="Consolas"/>
              </a:rPr>
              <a:t>delay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(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500</a:t>
            </a:r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)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  <a:r>
              <a:rPr altLang="ko-KR" dirty="0" lang="en-US" sz="1200">
                <a:solidFill>
                  <a:srgbClr val="95A5A6"/>
                </a:solidFill>
                <a:latin charset="0" panose="020B0609020204030204" pitchFamily="49" typeface="Consolas"/>
              </a:rPr>
              <a:t> // Wait for 500 millisecond(s)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  seconds += </a:t>
            </a:r>
            <a:r>
              <a:rPr altLang="ko-KR" dirty="0" lang="en-US" sz="1200">
                <a:solidFill>
                  <a:srgbClr val="005C5F"/>
                </a:solidFill>
                <a:latin charset="0" panose="020B0609020204030204" pitchFamily="49" typeface="Consolas"/>
              </a:rPr>
              <a:t>1</a:t>
            </a:r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>;</a:t>
            </a:r>
          </a:p>
          <a:p>
            <a:r>
              <a:rPr altLang="ko-KR" dirty="0" lang="en-US" sz="1200">
                <a:solidFill>
                  <a:srgbClr val="434F54"/>
                </a:solidFill>
                <a:latin charset="0" panose="020B0609020204030204" pitchFamily="49" typeface="Consolas"/>
              </a:rPr>
              <a:t>}</a:t>
            </a:r>
            <a:endParaRPr altLang="ko-KR" dirty="0" lang="en-US" sz="1200">
              <a:solidFill>
                <a:srgbClr val="4E5B61"/>
              </a:solidFill>
              <a:latin charset="0" panose="020B0609020204030204" pitchFamily="49" typeface="Consolas"/>
            </a:endParaRPr>
          </a:p>
          <a:p>
            <a: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  <a:t/>
            </a:r>
            <a:br>
              <a:rPr altLang="ko-KR" dirty="0" lang="en-US" sz="1200">
                <a:solidFill>
                  <a:srgbClr val="4E5B61"/>
                </a:solidFill>
                <a:latin charset="0" panose="020B0609020204030204" pitchFamily="49" typeface="Consolas"/>
              </a:rPr>
            </a:br>
            <a:endParaRPr altLang="ko-KR" b="0" dirty="0" lang="en-US" sz="1200">
              <a:solidFill>
                <a:srgbClr val="4E5B61"/>
              </a:solidFill>
              <a:effectLst/>
              <a:latin charset="0" panose="020B0609020204030204" pitchFamily="49"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2082" y="1045029"/>
            <a:ext cx="1179938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err="1" lang="en-US" smtClean="0"/>
              <a:t>Tinkercad</a:t>
            </a:r>
            <a:endParaRPr dirty="0" lang="ko-KR"/>
          </a:p>
        </p:txBody>
      </p:sp>
      <p:sp>
        <p:nvSpPr>
          <p:cNvPr id="8" name="TextBox 7"/>
          <p:cNvSpPr txBox="1"/>
          <p:nvPr/>
        </p:nvSpPr>
        <p:spPr>
          <a:xfrm>
            <a:off x="8089641" y="1045029"/>
            <a:ext cx="982898" cy="369332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err="1" lang="en-US" smtClean="0"/>
              <a:t>arduino</a:t>
            </a:r>
            <a:endParaRPr dirty="0" lang="ko-KR"/>
          </a:p>
        </p:txBody>
      </p:sp>
      <p:sp>
        <p:nvSpPr>
          <p:cNvPr id="9" name="직사각형 8"/>
          <p:cNvSpPr/>
          <p:nvPr/>
        </p:nvSpPr>
        <p:spPr>
          <a:xfrm>
            <a:off x="4045443" y="1445388"/>
            <a:ext cx="3194180" cy="27020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0" name="직사각형 9"/>
          <p:cNvSpPr/>
          <p:nvPr/>
        </p:nvSpPr>
        <p:spPr>
          <a:xfrm>
            <a:off x="4045443" y="2197273"/>
            <a:ext cx="3194180" cy="27020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1" name="직사각형 10"/>
          <p:cNvSpPr/>
          <p:nvPr/>
        </p:nvSpPr>
        <p:spPr>
          <a:xfrm>
            <a:off x="4045443" y="2938042"/>
            <a:ext cx="3194180" cy="27020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2" name="직사각형 11"/>
          <p:cNvSpPr/>
          <p:nvPr/>
        </p:nvSpPr>
        <p:spPr>
          <a:xfrm>
            <a:off x="7688424" y="1642929"/>
            <a:ext cx="4362995" cy="27020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3" name="직사각형 12"/>
          <p:cNvSpPr/>
          <p:nvPr/>
        </p:nvSpPr>
        <p:spPr>
          <a:xfrm>
            <a:off x="7688423" y="2358877"/>
            <a:ext cx="4362995" cy="27020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6" name="직사각형 15"/>
          <p:cNvSpPr/>
          <p:nvPr/>
        </p:nvSpPr>
        <p:spPr>
          <a:xfrm>
            <a:off x="7688422" y="3111048"/>
            <a:ext cx="4362995" cy="27020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  <p:sp>
        <p:nvSpPr>
          <p:cNvPr id="17" name="오른쪽 화살표 16"/>
          <p:cNvSpPr/>
          <p:nvPr/>
        </p:nvSpPr>
        <p:spPr>
          <a:xfrm>
            <a:off x="7324531" y="2006082"/>
            <a:ext cx="289249" cy="110496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661461603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9071" l="612" r="98265" t="1238">
                        <a14:foregroundMark x1="16224" x2="94898" y1="4644" y2="4180"/>
                        <a14:foregroundMark x1="21327" x2="94490" y1="41641" y2="40093"/>
                        <a14:foregroundMark x1="16327" x2="19082" y1="39164" y2="40712"/>
                        <a14:foregroundMark x1="59082" x2="92755" y1="61610" y2="81579"/>
                        <a14:foregroundMark x1="93163" x2="63776" y1="61765" y2="79876"/>
                        <a14:foregroundMark x1="62347" x2="67857" y1="69659" y2="72601"/>
                        <a14:foregroundMark x1="85204" x2="89388" y1="71672" y2="72755"/>
                        <a14:foregroundMark x1="11735" x2="11837" y1="47523" y2="93498"/>
                        <a14:foregroundMark x1="12653" x2="20204" y1="46749" y2="46130"/>
                        <a14:foregroundMark x1="20306" x2="20612" y1="45046" y2="39938"/>
                        <a14:foregroundMark x1="22959" x2="22653" y1="43808" y2="47678"/>
                        <a14:foregroundMark x1="15306" x2="15408" y1="51393" y2="91176"/>
                        <a14:foregroundMark x1="16429" x2="38469" y1="93653" y2="93498"/>
                        <a14:foregroundMark x1="13061" x2="37245" y1="97368" y2="97368"/>
                        <a14:foregroundMark x1="39082" x2="39388" y1="96130" y2="91022"/>
                        <a14:foregroundMark x1="39082" x2="38163" y1="95511" y2="97523"/>
                        <a14:foregroundMark x1="11837" x2="13265" y1="94427" y2="97214"/>
                        <a14:foregroundMark x1="11633" x2="13061" y1="95511" y2="97678"/>
                        <a14:foregroundMark x1="54286" x2="57041" y1="64706" y2="64706"/>
                        <a14:foregroundMark x1="41122" x2="40714" y1="46594" y2="52167"/>
                        <a14:foregroundMark x1="42041" x2="45408" y1="45356" y2="44737"/>
                        <a14:foregroundMark x1="41531" x2="40816" y1="45356" y2="45975"/>
                        <a14:foregroundMark x1="30000" x2="31224" y1="46285" y2="47368"/>
                        <a14:foregroundMark x1="31633" x2="38061" y1="47678" y2="47833"/>
                        <a14:foregroundMark x1="38265" x2="38265" y1="48916" y2="52477"/>
                        <a14:foregroundMark x1="30102" x2="30204" y1="43344" y2="46904"/>
                        <a14:foregroundMark x1="16429" x2="21939" y1="49690" y2="49226"/>
                        <a14:backgroundMark x1="18061" x2="94694" y1="1703" y2="12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0613" y="1436914"/>
            <a:ext cx="7734563" cy="5098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986" y="121254"/>
            <a:ext cx="3877985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스위치를 많이 눌러라 게임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662475"/>
            <a:ext cx="4292082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692449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01957" y="742032"/>
            <a:ext cx="3539412" cy="60016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dirty="0" lang="ko-KR" sz="1200"/>
              <a:t>#</a:t>
            </a:r>
            <a:r>
              <a:rPr dirty="0" err="1" lang="ko-KR" sz="1200"/>
              <a:t>include</a:t>
            </a:r>
            <a:r>
              <a:rPr dirty="0" lang="ko-KR" sz="1200"/>
              <a:t> &lt;</a:t>
            </a:r>
            <a:r>
              <a:rPr dirty="0" err="1" lang="ko-KR" sz="1200"/>
              <a:t>Adafruit_LiquidCrystal.h</a:t>
            </a:r>
            <a:r>
              <a:rPr dirty="0" lang="ko-KR" sz="1200"/>
              <a:t>&gt;</a:t>
            </a:r>
          </a:p>
          <a:p>
            <a:endParaRPr dirty="0" lang="ko-KR" sz="1200"/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BUTTON_1P 10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BUTTON_2P 9</a:t>
            </a:r>
          </a:p>
          <a:p>
            <a:r>
              <a:rPr dirty="0" lang="ko-KR" sz="1200"/>
              <a:t>#</a:t>
            </a:r>
            <a:r>
              <a:rPr dirty="0" err="1" lang="ko-KR" sz="1200"/>
              <a:t>define</a:t>
            </a:r>
            <a:r>
              <a:rPr dirty="0" lang="ko-KR" sz="1200"/>
              <a:t> BUTTON_START 8</a:t>
            </a:r>
          </a:p>
          <a:p>
            <a:endParaRPr dirty="0" lang="ko-KR" sz="1200"/>
          </a:p>
          <a:p>
            <a:r>
              <a:rPr dirty="0" err="1" lang="ko-KR" sz="1200"/>
              <a:t>Adafruit_LiquidCrystal</a:t>
            </a:r>
            <a:r>
              <a:rPr dirty="0" lang="ko-KR" sz="1200"/>
              <a:t> </a:t>
            </a:r>
            <a:r>
              <a:rPr dirty="0" err="1" lang="ko-KR" sz="1200"/>
              <a:t>lcd</a:t>
            </a:r>
            <a:r>
              <a:rPr dirty="0" lang="ko-KR" sz="1200"/>
              <a:t>(0);</a:t>
            </a:r>
          </a:p>
          <a:p>
            <a:endParaRPr dirty="0" lang="ko-KR" sz="1200"/>
          </a:p>
          <a:p>
            <a:r>
              <a:rPr dirty="0" err="1" lang="ko-KR" sz="1200"/>
              <a:t>unsigned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buttonCnt1 = 0;</a:t>
            </a:r>
          </a:p>
          <a:p>
            <a:r>
              <a:rPr dirty="0" err="1" lang="ko-KR" sz="1200"/>
              <a:t>unsigned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buttonCnt2 = 0;</a:t>
            </a:r>
          </a:p>
          <a:p>
            <a:endParaRPr dirty="0" lang="ko-KR" sz="1200"/>
          </a:p>
          <a:p>
            <a:r>
              <a:rPr dirty="0" err="1" lang="ko-KR" sz="1200"/>
              <a:t>unsigned</a:t>
            </a:r>
            <a:r>
              <a:rPr dirty="0" lang="ko-KR" sz="1200"/>
              <a:t> </a:t>
            </a:r>
            <a:r>
              <a:rPr dirty="0" err="1" lang="ko-KR" sz="1200"/>
              <a:t>long</a:t>
            </a:r>
            <a:r>
              <a:rPr dirty="0" lang="ko-KR" sz="1200"/>
              <a:t> </a:t>
            </a:r>
            <a:r>
              <a:rPr dirty="0" err="1" lang="ko-KR" sz="1200"/>
              <a:t>currTime</a:t>
            </a:r>
            <a:r>
              <a:rPr dirty="0" lang="ko-KR" sz="1200"/>
              <a:t> = 0;</a:t>
            </a:r>
          </a:p>
          <a:p>
            <a:r>
              <a:rPr dirty="0" err="1" lang="ko-KR" sz="1200"/>
              <a:t>unsigned</a:t>
            </a:r>
            <a:r>
              <a:rPr dirty="0" lang="ko-KR" sz="1200"/>
              <a:t> </a:t>
            </a:r>
            <a:r>
              <a:rPr dirty="0" err="1" lang="ko-KR" sz="1200"/>
              <a:t>long</a:t>
            </a:r>
            <a:r>
              <a:rPr dirty="0" lang="ko-KR" sz="1200"/>
              <a:t> </a:t>
            </a:r>
            <a:r>
              <a:rPr dirty="0" err="1" lang="ko-KR" sz="1200"/>
              <a:t>prevTime</a:t>
            </a:r>
            <a:r>
              <a:rPr dirty="0" lang="ko-KR" sz="1200"/>
              <a:t> = 0;</a:t>
            </a:r>
          </a:p>
          <a:p>
            <a:endParaRPr dirty="0" lang="ko-KR" sz="1200"/>
          </a:p>
          <a:p>
            <a:r>
              <a:rPr dirty="0" err="1" lang="ko-KR" sz="1200"/>
              <a:t>unsigned</a:t>
            </a:r>
            <a:r>
              <a:rPr dirty="0" lang="ko-KR" sz="1200"/>
              <a:t> </a:t>
            </a:r>
            <a:r>
              <a:rPr dirty="0" err="1" lang="ko-KR" sz="1200"/>
              <a:t>int</a:t>
            </a:r>
            <a:r>
              <a:rPr dirty="0" lang="ko-KR" sz="1200"/>
              <a:t> </a:t>
            </a:r>
            <a:r>
              <a:rPr dirty="0" err="1" lang="ko-KR" sz="1200"/>
              <a:t>gameTime</a:t>
            </a:r>
            <a:r>
              <a:rPr dirty="0" lang="ko-KR" sz="1200"/>
              <a:t> = 30;</a:t>
            </a:r>
          </a:p>
          <a:p>
            <a:endParaRPr dirty="0" lang="ko-KR" sz="1200"/>
          </a:p>
          <a:p>
            <a:r>
              <a:rPr dirty="0" err="1" lang="ko-KR" sz="1200"/>
              <a:t>void</a:t>
            </a:r>
            <a:r>
              <a:rPr dirty="0" lang="ko-KR" sz="1200"/>
              <a:t> </a:t>
            </a:r>
            <a:r>
              <a:rPr dirty="0" err="1" lang="ko-KR" sz="1200"/>
              <a:t>setup</a:t>
            </a:r>
            <a:r>
              <a:rPr dirty="0" lang="ko-KR" sz="1200"/>
              <a:t>() {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(BUTTON_1P,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(BUTTON_2P,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pinMode</a:t>
            </a:r>
            <a:r>
              <a:rPr dirty="0" lang="ko-KR" sz="1200"/>
              <a:t>(BUTTON_START, INPUT_PULLUP);</a:t>
            </a:r>
          </a:p>
          <a:p>
            <a:r>
              <a:rPr dirty="0" lang="ko-KR" sz="1200"/>
              <a:t>  </a:t>
            </a:r>
            <a:r>
              <a:rPr dirty="0" err="1" lang="ko-KR" sz="1200"/>
              <a:t>lcd.begin</a:t>
            </a:r>
            <a:r>
              <a:rPr dirty="0" lang="ko-KR" sz="1200"/>
              <a:t>(16, 2);</a:t>
            </a:r>
          </a:p>
          <a:p>
            <a:r>
              <a:rPr dirty="0" lang="ko-KR" smtClean="0" sz="1200"/>
              <a:t>}</a:t>
            </a:r>
            <a:endParaRPr altLang="ko-KR" dirty="0" lang="en-US" smtClean="0" sz="1200"/>
          </a:p>
          <a:p>
            <a:endParaRPr altLang="ko-KR" dirty="0" lang="en-US" sz="1200"/>
          </a:p>
          <a:p>
            <a:r>
              <a:rPr altLang="ko-KR" dirty="0" lang="en-US" sz="1200"/>
              <a:t>void loop() {</a:t>
            </a:r>
          </a:p>
          <a:p>
            <a:r>
              <a:rPr altLang="ko-KR" dirty="0" lang="en-US" sz="1200"/>
              <a:t>  if(button1P() == 1) {</a:t>
            </a:r>
          </a:p>
          <a:p>
            <a:r>
              <a:rPr altLang="ko-KR" dirty="0" lang="en-US" sz="1200"/>
              <a:t>    if(</a:t>
            </a:r>
            <a:r>
              <a:rPr altLang="ko-KR" dirty="0" err="1" lang="en-US" sz="1200"/>
              <a:t>gameTime</a:t>
            </a:r>
            <a:r>
              <a:rPr altLang="ko-KR" dirty="0" lang="en-US" sz="1200"/>
              <a:t> &gt; 0 ) buttonCnt1++;</a:t>
            </a:r>
          </a:p>
          <a:p>
            <a:r>
              <a:rPr altLang="ko-KR" dirty="0" lang="en-US" sz="1200"/>
              <a:t>    delay(50);</a:t>
            </a:r>
          </a:p>
          <a:p>
            <a:r>
              <a:rPr altLang="ko-KR" dirty="0" lang="en-US" sz="1200"/>
              <a:t>  }</a:t>
            </a:r>
          </a:p>
          <a:p>
            <a:r>
              <a:rPr altLang="ko-KR" dirty="0" lang="en-US" sz="1200"/>
              <a:t>  if(button2P() == 1) {</a:t>
            </a:r>
          </a:p>
          <a:p>
            <a:r>
              <a:rPr altLang="ko-KR" dirty="0" lang="en-US" sz="1200"/>
              <a:t>    if(</a:t>
            </a:r>
            <a:r>
              <a:rPr altLang="ko-KR" dirty="0" err="1" lang="en-US" sz="1200"/>
              <a:t>gameTime</a:t>
            </a:r>
            <a:r>
              <a:rPr altLang="ko-KR" dirty="0" lang="en-US" sz="1200"/>
              <a:t> &gt; 0 ) buttonCnt2++;</a:t>
            </a:r>
          </a:p>
          <a:p>
            <a:r>
              <a:rPr altLang="ko-KR" dirty="0" lang="en-US" sz="1200"/>
              <a:t>    delay(50);</a:t>
            </a:r>
          </a:p>
          <a:p>
            <a:r>
              <a:rPr altLang="ko-KR" dirty="0" lang="en-US" sz="1200"/>
              <a:t>  </a:t>
            </a:r>
            <a:r>
              <a:rPr altLang="ko-KR" dirty="0" lang="en-US" smtClean="0" sz="1200"/>
              <a:t>}</a:t>
            </a:r>
            <a:endParaRPr altLang="ko-KR" dirty="0" lang="en-US" sz="1200"/>
          </a:p>
        </p:txBody>
      </p:sp>
      <p:sp>
        <p:nvSpPr>
          <p:cNvPr id="3" name="직사각형 2"/>
          <p:cNvSpPr/>
          <p:nvPr/>
        </p:nvSpPr>
        <p:spPr>
          <a:xfrm>
            <a:off x="4578219" y="742032"/>
            <a:ext cx="2653005" cy="4339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altLang="ko-KR" dirty="0" lang="en-US" sz="1200"/>
              <a:t> if(</a:t>
            </a:r>
            <a:r>
              <a:rPr altLang="ko-KR" dirty="0" err="1" lang="en-US" sz="1200"/>
              <a:t>buttonStart</a:t>
            </a:r>
            <a:r>
              <a:rPr altLang="ko-KR" dirty="0" lang="en-US" sz="1200"/>
              <a:t>() == 1){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gameTime</a:t>
            </a:r>
            <a:r>
              <a:rPr altLang="ko-KR" dirty="0" lang="en-US" sz="1200"/>
              <a:t> = 30;</a:t>
            </a:r>
          </a:p>
          <a:p>
            <a:r>
              <a:rPr altLang="ko-KR" dirty="0" lang="en-US" sz="1200"/>
              <a:t>    buttonCnt1 = 0;</a:t>
            </a:r>
          </a:p>
          <a:p>
            <a:r>
              <a:rPr altLang="ko-KR" dirty="0" lang="en-US" sz="1200"/>
              <a:t>    buttonCnt2 = 0;</a:t>
            </a:r>
          </a:p>
          <a:p>
            <a:r>
              <a:rPr altLang="ko-KR" dirty="0" lang="en-US" sz="1200"/>
              <a:t>    delay(50);</a:t>
            </a:r>
          </a:p>
          <a:p>
            <a:r>
              <a:rPr altLang="ko-KR" dirty="0" lang="en-US" sz="1200"/>
              <a:t>  }</a:t>
            </a:r>
          </a:p>
          <a:p>
            <a:endParaRPr altLang="ko-KR" dirty="0" lang="en-US" sz="1200"/>
          </a:p>
          <a:p>
            <a:r>
              <a:rPr altLang="ko-KR" dirty="0" lang="en-US" sz="1200"/>
              <a:t>  </a:t>
            </a:r>
            <a:r>
              <a:rPr altLang="ko-KR" dirty="0" err="1" lang="en-US" sz="1200"/>
              <a:t>currTime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millis</a:t>
            </a:r>
            <a:r>
              <a:rPr altLang="ko-KR" dirty="0" lang="en-US" sz="1200"/>
              <a:t>();</a:t>
            </a:r>
          </a:p>
          <a:p>
            <a:r>
              <a:rPr altLang="ko-KR" dirty="0" lang="en-US" sz="1200"/>
              <a:t>  if(</a:t>
            </a:r>
            <a:r>
              <a:rPr altLang="ko-KR" dirty="0" err="1" lang="en-US" sz="1200"/>
              <a:t>currTime</a:t>
            </a:r>
            <a:r>
              <a:rPr altLang="ko-KR" dirty="0" lang="en-US" sz="1200"/>
              <a:t> - </a:t>
            </a:r>
            <a:r>
              <a:rPr altLang="ko-KR" dirty="0" err="1" lang="en-US" sz="1200"/>
              <a:t>prevTime</a:t>
            </a:r>
            <a:r>
              <a:rPr altLang="ko-KR" dirty="0" lang="en-US" sz="1200"/>
              <a:t> &gt;= 1000) {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prevTime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currTime</a:t>
            </a:r>
            <a:r>
              <a:rPr altLang="ko-KR" dirty="0" lang="en-US" sz="1200"/>
              <a:t>;</a:t>
            </a:r>
          </a:p>
          <a:p>
            <a:r>
              <a:rPr altLang="ko-KR" dirty="0" lang="en-US" sz="1200"/>
              <a:t>    if(</a:t>
            </a:r>
            <a:r>
              <a:rPr altLang="ko-KR" dirty="0" err="1" lang="en-US" sz="1200"/>
              <a:t>gameTime</a:t>
            </a:r>
            <a:r>
              <a:rPr altLang="ko-KR" dirty="0" lang="en-US" sz="1200"/>
              <a:t> &gt; 0) </a:t>
            </a:r>
            <a:r>
              <a:rPr altLang="ko-KR" dirty="0" err="1" lang="en-US" sz="1200"/>
              <a:t>gameTime</a:t>
            </a:r>
            <a:r>
              <a:rPr altLang="ko-KR" dirty="0" lang="en-US" sz="1200"/>
              <a:t>--;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lcd.clear</a:t>
            </a:r>
            <a:r>
              <a:rPr altLang="ko-KR" dirty="0" lang="en-US" sz="1200"/>
              <a:t>();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lcd.setCursor</a:t>
            </a:r>
            <a:r>
              <a:rPr altLang="ko-KR" dirty="0" lang="en-US" sz="1200"/>
              <a:t>(3, 0);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lcd.print</a:t>
            </a:r>
            <a:r>
              <a:rPr altLang="ko-KR" dirty="0" lang="en-US" sz="1200"/>
              <a:t>(" TIME: ");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lcd.print</a:t>
            </a:r>
            <a:r>
              <a:rPr altLang="ko-KR" dirty="0" lang="en-US" sz="1200"/>
              <a:t>(</a:t>
            </a:r>
            <a:r>
              <a:rPr altLang="ko-KR" dirty="0" err="1" lang="en-US" sz="1200"/>
              <a:t>gameTime</a:t>
            </a:r>
            <a:r>
              <a:rPr altLang="ko-KR" dirty="0" lang="en-US" sz="1200"/>
              <a:t>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lcd.setCursor</a:t>
            </a:r>
            <a:r>
              <a:rPr altLang="ko-KR" dirty="0" lang="en-US" sz="1200"/>
              <a:t>(0, 1);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lcd.print</a:t>
            </a:r>
            <a:r>
              <a:rPr altLang="ko-KR" dirty="0" lang="en-US" sz="1200"/>
              <a:t>(" 1P: ");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lcd.print</a:t>
            </a:r>
            <a:r>
              <a:rPr altLang="ko-KR" dirty="0" lang="en-US" sz="1200"/>
              <a:t>(buttonCnt1);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lcd.setCursor</a:t>
            </a:r>
            <a:r>
              <a:rPr altLang="ko-KR" dirty="0" lang="en-US" sz="1200"/>
              <a:t>(8, 1);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lcd.print</a:t>
            </a:r>
            <a:r>
              <a:rPr altLang="ko-KR" dirty="0" lang="en-US" sz="1200"/>
              <a:t>(" 2P: ");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lcd.print</a:t>
            </a:r>
            <a:r>
              <a:rPr altLang="ko-KR" dirty="0" lang="en-US" sz="1200"/>
              <a:t>(buttonCnt2);</a:t>
            </a:r>
          </a:p>
          <a:p>
            <a:r>
              <a:rPr altLang="ko-KR" dirty="0" lang="en-US" sz="1200"/>
              <a:t>  }</a:t>
            </a:r>
          </a:p>
          <a:p>
            <a:r>
              <a:rPr altLang="ko-KR" dirty="0" lang="en-US" smtClean="0" sz="1200"/>
              <a:t>}</a:t>
            </a:r>
            <a:endParaRPr altLang="ko-KR" dirty="0" lang="en-US" sz="1200"/>
          </a:p>
        </p:txBody>
      </p:sp>
      <p:sp>
        <p:nvSpPr>
          <p:cNvPr id="4" name="TextBox 3"/>
          <p:cNvSpPr txBox="1"/>
          <p:nvPr/>
        </p:nvSpPr>
        <p:spPr>
          <a:xfrm>
            <a:off x="55986" y="121254"/>
            <a:ext cx="3877985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dirty="0" lang="ko-KR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스위치를 많이 눌러라 게임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662475"/>
            <a:ext cx="4292082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7368074" y="742032"/>
            <a:ext cx="1981199" cy="489364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altLang="ko-KR" dirty="0" err="1" lang="en-US" sz="1200"/>
              <a:t>int</a:t>
            </a:r>
            <a:r>
              <a:rPr altLang="ko-KR" dirty="0" lang="en-US" sz="1200"/>
              <a:t> button1P() {</a:t>
            </a:r>
          </a:p>
          <a:p>
            <a:r>
              <a:rPr altLang="ko-KR" dirty="0" lang="en-US" sz="1200"/>
              <a:t>  static </a:t>
            </a:r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 = 1;</a:t>
            </a:r>
          </a:p>
          <a:p>
            <a:r>
              <a:rPr altLang="ko-KR" dirty="0" lang="en-US" sz="1200"/>
              <a:t>  static </a:t>
            </a:r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 1;</a:t>
            </a:r>
          </a:p>
          <a:p>
            <a:r>
              <a:rPr altLang="ko-KR" dirty="0" lang="en-US" sz="1200"/>
              <a:t> 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digitalRead</a:t>
            </a:r>
            <a:r>
              <a:rPr altLang="ko-KR" dirty="0" lang="en-US" sz="1200"/>
              <a:t>(BUTTON_1P);</a:t>
            </a:r>
          </a:p>
          <a:p>
            <a:r>
              <a:rPr altLang="ko-KR" dirty="0" lang="en-US" sz="1200"/>
              <a:t>  if (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!=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) {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;</a:t>
            </a:r>
          </a:p>
          <a:p>
            <a:r>
              <a:rPr altLang="ko-KR" dirty="0" lang="en-US" sz="1200"/>
              <a:t>    if(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== 0) {</a:t>
            </a:r>
          </a:p>
          <a:p>
            <a:r>
              <a:rPr altLang="ko-KR" dirty="0" lang="en-US" sz="1200"/>
              <a:t>      return 1;</a:t>
            </a:r>
          </a:p>
          <a:p>
            <a:r>
              <a:rPr altLang="ko-KR" dirty="0" lang="en-US" sz="1200"/>
              <a:t>    }</a:t>
            </a:r>
          </a:p>
          <a:p>
            <a:r>
              <a:rPr altLang="ko-KR" dirty="0" lang="en-US" sz="1200"/>
              <a:t>  }</a:t>
            </a:r>
          </a:p>
          <a:p>
            <a:r>
              <a:rPr altLang="ko-KR" dirty="0" lang="en-US" sz="1200"/>
              <a:t>  return 0;</a:t>
            </a:r>
          </a:p>
          <a:p>
            <a:r>
              <a:rPr altLang="ko-KR" dirty="0" lang="en-US" sz="1200"/>
              <a:t>}</a:t>
            </a:r>
          </a:p>
          <a:p>
            <a:r>
              <a:rPr altLang="ko-KR" dirty="0" err="1" lang="en-US" sz="1200"/>
              <a:t>int</a:t>
            </a:r>
            <a:r>
              <a:rPr altLang="ko-KR" dirty="0" lang="en-US" sz="1200"/>
              <a:t> button2P() {</a:t>
            </a:r>
          </a:p>
          <a:p>
            <a:r>
              <a:rPr altLang="ko-KR" dirty="0" lang="en-US" sz="1200"/>
              <a:t>  static </a:t>
            </a:r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 = 1;</a:t>
            </a:r>
          </a:p>
          <a:p>
            <a:r>
              <a:rPr altLang="ko-KR" dirty="0" lang="en-US" sz="1200"/>
              <a:t>  static </a:t>
            </a:r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 1;</a:t>
            </a:r>
          </a:p>
          <a:p>
            <a:r>
              <a:rPr altLang="ko-KR" dirty="0" lang="en-US" sz="1200"/>
              <a:t> 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digitalRead</a:t>
            </a:r>
            <a:r>
              <a:rPr altLang="ko-KR" dirty="0" lang="en-US" sz="1200"/>
              <a:t>(BUTTON_2P);</a:t>
            </a:r>
          </a:p>
          <a:p>
            <a:r>
              <a:rPr altLang="ko-KR" dirty="0" lang="en-US" sz="1200"/>
              <a:t>  if (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!=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) {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;</a:t>
            </a:r>
          </a:p>
          <a:p>
            <a:r>
              <a:rPr altLang="ko-KR" dirty="0" lang="en-US" sz="1200"/>
              <a:t>    if(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== 0) {</a:t>
            </a:r>
          </a:p>
          <a:p>
            <a:r>
              <a:rPr altLang="ko-KR" dirty="0" lang="en-US" sz="1200"/>
              <a:t>      return 1;</a:t>
            </a:r>
          </a:p>
          <a:p>
            <a:r>
              <a:rPr altLang="ko-KR" dirty="0" lang="en-US" sz="1200"/>
              <a:t>    }</a:t>
            </a:r>
          </a:p>
          <a:p>
            <a:r>
              <a:rPr altLang="ko-KR" dirty="0" lang="en-US" sz="1200"/>
              <a:t>  }</a:t>
            </a:r>
          </a:p>
          <a:p>
            <a:r>
              <a:rPr altLang="ko-KR" dirty="0" lang="en-US" sz="1200"/>
              <a:t>  return 0;</a:t>
            </a:r>
          </a:p>
          <a:p>
            <a:r>
              <a:rPr altLang="ko-KR" dirty="0" lang="en-US" sz="1200"/>
              <a:t>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486123" y="742032"/>
            <a:ext cx="1981199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numCol="1" wrap="square">
            <a:spAutoFit/>
          </a:bodyPr>
          <a:lstStyle/>
          <a:p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buttonStart</a:t>
            </a:r>
            <a:r>
              <a:rPr altLang="ko-KR" dirty="0" lang="en-US" sz="1200"/>
              <a:t>() {</a:t>
            </a:r>
          </a:p>
          <a:p>
            <a:r>
              <a:rPr altLang="ko-KR" dirty="0" lang="en-US" sz="1200"/>
              <a:t>  static </a:t>
            </a:r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 = 1;</a:t>
            </a:r>
          </a:p>
          <a:p>
            <a:r>
              <a:rPr altLang="ko-KR" dirty="0" lang="en-US" sz="1200"/>
              <a:t>  static </a:t>
            </a:r>
            <a:r>
              <a:rPr altLang="ko-KR" dirty="0" err="1" lang="en-US" sz="1200"/>
              <a:t>int</a:t>
            </a:r>
            <a:r>
              <a:rPr altLang="ko-KR" dirty="0" lang="en-US" sz="1200"/>
              <a:t>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 1;</a:t>
            </a:r>
          </a:p>
          <a:p>
            <a:r>
              <a:rPr altLang="ko-KR" dirty="0" lang="en-US" sz="1200"/>
              <a:t> 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digitalRead</a:t>
            </a:r>
            <a:r>
              <a:rPr altLang="ko-KR" dirty="0" lang="en-US" sz="1200"/>
              <a:t>(BUTTON_START);</a:t>
            </a:r>
          </a:p>
          <a:p>
            <a:r>
              <a:rPr altLang="ko-KR" dirty="0" lang="en-US" sz="1200"/>
              <a:t>  if (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!=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) {</a:t>
            </a:r>
          </a:p>
          <a:p>
            <a:r>
              <a:rPr altLang="ko-KR" dirty="0" lang="en-US" sz="1200"/>
              <a:t>    </a:t>
            </a:r>
            <a:r>
              <a:rPr altLang="ko-KR" dirty="0" err="1" lang="en-US" sz="1200"/>
              <a:t>oldSw</a:t>
            </a:r>
            <a:r>
              <a:rPr altLang="ko-KR" dirty="0" lang="en-US" sz="1200"/>
              <a:t> = 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;</a:t>
            </a:r>
          </a:p>
          <a:p>
            <a:r>
              <a:rPr altLang="ko-KR" dirty="0" lang="en-US" sz="1200"/>
              <a:t>    if(</a:t>
            </a:r>
            <a:r>
              <a:rPr altLang="ko-KR" dirty="0" err="1" lang="en-US" sz="1200"/>
              <a:t>newSw</a:t>
            </a:r>
            <a:r>
              <a:rPr altLang="ko-KR" dirty="0" lang="en-US" sz="1200"/>
              <a:t> == 0) {</a:t>
            </a:r>
          </a:p>
          <a:p>
            <a:r>
              <a:rPr altLang="ko-KR" dirty="0" lang="en-US" sz="1200"/>
              <a:t>      return 1;</a:t>
            </a:r>
          </a:p>
          <a:p>
            <a:r>
              <a:rPr altLang="ko-KR" dirty="0" lang="en-US" sz="1200"/>
              <a:t>    }</a:t>
            </a:r>
          </a:p>
          <a:p>
            <a:r>
              <a:rPr altLang="ko-KR" dirty="0" lang="en-US" sz="1200"/>
              <a:t>  }</a:t>
            </a:r>
          </a:p>
          <a:p>
            <a:r>
              <a:rPr altLang="ko-KR" dirty="0" lang="en-US" sz="1200"/>
              <a:t>  return 0;</a:t>
            </a:r>
          </a:p>
          <a:p>
            <a:r>
              <a:rPr altLang="ko-KR" dirty="0" lang="en-US" sz="1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3650125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731543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986" y="121254"/>
            <a:ext cx="1736373" cy="461665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r>
              <a:rPr altLang="ko-KR" dirty="0" lang="en-US" smtClean="0" sz="2400">
                <a:latin charset="-127" panose="02030600000101010101" pitchFamily="18" typeface="HY헤드라인M"/>
                <a:ea charset="-127" panose="02030600000101010101" pitchFamily="18" typeface="HY헤드라인M"/>
              </a:rPr>
              <a:t>Reference</a:t>
            </a:r>
            <a:endParaRPr dirty="0" lang="ko-KR" sz="2400">
              <a:latin charset="-127" panose="02030600000101010101" pitchFamily="18" typeface="HY헤드라인M"/>
              <a:ea charset="-127" panose="02030600000101010101" pitchFamily="18" typeface="HY헤드라인M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62475"/>
            <a:ext cx="476794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92359" y="1380931"/>
            <a:ext cx="8271816" cy="646331"/>
          </a:xfrm>
          <a:prstGeom prst="rect">
            <a:avLst/>
          </a:prstGeom>
          <a:noFill/>
        </p:spPr>
        <p:txBody>
          <a:bodyPr numCol="1" rtlCol="0" wrap="none">
            <a:spAutoFit/>
          </a:bodyPr>
          <a:lstStyle/>
          <a:p>
            <a:pPr indent="-285750" marL="285750">
              <a:buFont charset="0" panose="020B0604020202020204" pitchFamily="34" typeface="Arial"/>
              <a:buChar char="•"/>
            </a:pPr>
            <a:r>
              <a:rPr dirty="0" lang="ko-KR" smtClean="0"/>
              <a:t>만들면서</a:t>
            </a:r>
            <a:r>
              <a:rPr altLang="ko-KR" dirty="0" lang="en-US" smtClean="0"/>
              <a:t> </a:t>
            </a:r>
            <a:r>
              <a:rPr dirty="0" lang="ko-KR" smtClean="0"/>
              <a:t>배우는 </a:t>
            </a:r>
            <a:r>
              <a:rPr dirty="0" err="1" lang="ko-KR" smtClean="0"/>
              <a:t>아두이노와</a:t>
            </a:r>
            <a:r>
              <a:rPr dirty="0" lang="ko-KR" smtClean="0"/>
              <a:t> </a:t>
            </a:r>
            <a:r>
              <a:rPr altLang="ko-KR" dirty="0" lang="en-US" smtClean="0"/>
              <a:t>40</a:t>
            </a:r>
            <a:r>
              <a:rPr dirty="0" lang="ko-KR" smtClean="0"/>
              <a:t>개의 작품들</a:t>
            </a:r>
            <a:r>
              <a:rPr altLang="ko-KR" dirty="0" lang="en-US" smtClean="0"/>
              <a:t>. </a:t>
            </a:r>
            <a:r>
              <a:rPr dirty="0" err="1" lang="ko-KR" smtClean="0"/>
              <a:t>장문철</a:t>
            </a:r>
            <a:r>
              <a:rPr altLang="ko-KR" dirty="0" lang="en-US" smtClean="0"/>
              <a:t>, </a:t>
            </a:r>
            <a:r>
              <a:rPr dirty="0" err="1" lang="ko-KR" smtClean="0"/>
              <a:t>앤써북</a:t>
            </a:r>
            <a:endParaRPr altLang="ko-KR" dirty="0" lang="en-US" smtClean="0"/>
          </a:p>
          <a:p>
            <a:pPr indent="-285750" marL="285750">
              <a:buFont charset="0" panose="020B0604020202020204" pitchFamily="34" typeface="Arial"/>
              <a:buChar char="•"/>
            </a:pPr>
            <a:r>
              <a:rPr dirty="0" lang="ko-KR" smtClean="0"/>
              <a:t>스마트폰</a:t>
            </a:r>
            <a:r>
              <a:rPr altLang="ko-KR" dirty="0" lang="en-US" smtClean="0"/>
              <a:t>, </a:t>
            </a:r>
            <a:r>
              <a:rPr dirty="0" lang="ko-KR" smtClean="0"/>
              <a:t>블루투스</a:t>
            </a:r>
            <a:r>
              <a:rPr altLang="ko-KR" dirty="0" lang="en-US" smtClean="0"/>
              <a:t>, </a:t>
            </a:r>
            <a:r>
              <a:rPr dirty="0" err="1" lang="ko-KR" smtClean="0"/>
              <a:t>이더넷</a:t>
            </a:r>
            <a:r>
              <a:rPr altLang="ko-KR" dirty="0" lang="en-US" smtClean="0"/>
              <a:t>, </a:t>
            </a:r>
            <a:r>
              <a:rPr altLang="ko-KR" dirty="0" err="1" lang="en-US" smtClean="0"/>
              <a:t>WiFi</a:t>
            </a:r>
            <a:r>
              <a:rPr altLang="ko-KR" dirty="0" lang="en-US" smtClean="0"/>
              <a:t> </a:t>
            </a:r>
            <a:r>
              <a:rPr dirty="0" lang="ko-KR" smtClean="0"/>
              <a:t>그리고 </a:t>
            </a:r>
            <a:r>
              <a:rPr dirty="0" err="1" lang="ko-KR" smtClean="0"/>
              <a:t>아두이노</a:t>
            </a:r>
            <a:r>
              <a:rPr altLang="ko-KR" dirty="0" lang="en-US" smtClean="0"/>
              <a:t>, </a:t>
            </a:r>
            <a:r>
              <a:rPr dirty="0" lang="ko-KR" smtClean="0"/>
              <a:t>조도현 외 </a:t>
            </a:r>
            <a:r>
              <a:rPr altLang="ko-KR" dirty="0" lang="en-US" smtClean="0"/>
              <a:t>4, </a:t>
            </a:r>
            <a:r>
              <a:rPr dirty="0" err="1" lang="ko-KR" smtClean="0"/>
              <a:t>북두출판사</a:t>
            </a:r>
            <a:endParaRPr dirty="0" lang="ko-KR"/>
          </a:p>
        </p:txBody>
      </p:sp>
    </p:spTree>
    <p:extLst>
      <p:ext uri="{BB962C8B-B14F-4D97-AF65-F5344CB8AC3E}">
        <p14:creationId xmlns:p14="http://schemas.microsoft.com/office/powerpoint/2010/main" val="2345235931"/>
      </p:ext>
    </p:extLst>
  </p:cSld>
  <p:clrMapOvr>
    <a:masterClrMapping/>
  </p:clrMapOvr>
  <p:timing>
    <p:tnLst>
      <p:par>
        <p:cTn dur="indefinite" id="1" nodeType="tmRoot" restart="never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panose="020F0502020204030204"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Words>1657</Words>
  <Paragraphs>356</Paragraphs>
  <Slides>15</Slides>
  <Notes>0</Notes>
  <TotalTime>1961</TotalTime>
  <HiddenSlides>0</HiddenSlides>
  <MMClips>0</MMClips>
  <ScaleCrop>false</ScaleCrop>
  <HeadingPairs>
    <vt:vector baseType="variant" size="6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baseType="lpstr" size="20">
      <vt:lpstr>HY헤드라인M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lication>Microsoft Office PowerPoint</Application>
  <AppVersion>16.0000</AppVersion>
  <PresentationFormat>와이드스크린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2025-05-25T06:59:37Z</dcterms:created>
  <dc:creator>isadora</dc:creator>
  <cp:lastModifiedBy>SAMSUNG</cp:lastModifiedBy>
  <dcterms:modified xsi:type="dcterms:W3CDTF">2025-06-16T07:49:04Z</dcterms:modified>
  <cp:revision>25</cp:revision>
  <dc:title>PowerPoint 프레젠테이션</dc:title>
</cp:coreProperties>
</file>